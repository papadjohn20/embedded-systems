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charts/chart8.xml" ContentType="application/vnd.openxmlformats-officedocument.drawingml.char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12" r:id="rId1"/>
  </p:sldMasterIdLst>
  <p:notesMasterIdLst>
    <p:notesMasterId r:id="rId18"/>
  </p:notesMasterIdLst>
  <p:handoutMasterIdLst>
    <p:handoutMasterId r:id="rId19"/>
  </p:handoutMasterIdLst>
  <p:sldIdLst>
    <p:sldId id="256" r:id="rId2"/>
    <p:sldId id="292" r:id="rId3"/>
    <p:sldId id="269" r:id="rId4"/>
    <p:sldId id="271" r:id="rId5"/>
    <p:sldId id="274" r:id="rId6"/>
    <p:sldId id="258" r:id="rId7"/>
    <p:sldId id="275" r:id="rId8"/>
    <p:sldId id="291" r:id="rId9"/>
    <p:sldId id="263" r:id="rId10"/>
    <p:sldId id="283" r:id="rId11"/>
    <p:sldId id="285" r:id="rId12"/>
    <p:sldId id="287" r:id="rId13"/>
    <p:sldId id="288" r:id="rId14"/>
    <p:sldId id="289" r:id="rId15"/>
    <p:sldId id="290" r:id="rId16"/>
    <p:sldId id="293" r:id="rId17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435422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20000" autoAdjust="0"/>
    <p:restoredTop sz="94660" autoAdjust="0"/>
  </p:normalViewPr>
  <p:slideViewPr>
    <p:cSldViewPr>
      <p:cViewPr varScale="1">
        <p:scale>
          <a:sx n="115" d="100"/>
          <a:sy n="115" d="100"/>
        </p:scale>
        <p:origin x="-186" y="-114"/>
      </p:cViewPr>
      <p:guideLst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1986" y="108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maril\Downloads\diagrammata_gia_reportlab3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maril\Downloads\diagrammata_gia_reportlab3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maril\Downloads\diagrammata_gia_reportlab3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maril\Downloads\diagrammata_gia_reportlab3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maril\Downloads\diagrammata_gia_reportlab3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maril\Downloads\diagrammata_gia_reportlab3.xlsx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maril\Downloads\Lab3-Embedded-systems-main\Lab3-Embedded-systems-main\lab3\organized_files\diagrammata_gia_reportlab3.xlsx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maril\Downloads\Lab3-Embedded-systems-main\Lab3-Embedded-systems-main\lab3\organized_files\diagrammata_gia_reportlab3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GB"/>
  <c:chart>
    <c:plotArea>
      <c:layout/>
      <c:lineChart>
        <c:grouping val="standard"/>
        <c:ser>
          <c:idx val="0"/>
          <c:order val="0"/>
          <c:tx>
            <c:strRef>
              <c:f>Φύλλο1!$B$1</c:f>
              <c:strCache>
                <c:ptCount val="1"/>
                <c:pt idx="0">
                  <c:v>x86</c:v>
                </c:pt>
              </c:strCache>
            </c:strRef>
          </c:tx>
          <c:dLbls>
            <c:dLbl>
              <c:idx val="0"/>
              <c:layout>
                <c:manualLayout>
                  <c:x val="6.1218237134577826E-3"/>
                  <c:y val="-1.693930098633268E-2"/>
                </c:manualLayout>
              </c:layout>
              <c:showVal val="1"/>
            </c:dLbl>
            <c:dLbl>
              <c:idx val="1"/>
              <c:layout>
                <c:manualLayout>
                  <c:x val="8.5705531988408881E-3"/>
                  <c:y val="9.4107227701848168E-3"/>
                </c:manualLayout>
              </c:layout>
              <c:showVal val="1"/>
            </c:dLbl>
            <c:showVal val="1"/>
          </c:dLbls>
          <c:cat>
            <c:strRef>
              <c:f>Φύλλο1!$A$2:$A$4</c:f>
              <c:strCache>
                <c:ptCount val="3"/>
                <c:pt idx="0">
                  <c:v>N=32, M=65536</c:v>
                </c:pt>
                <c:pt idx="1">
                  <c:v>N=256, M=65536</c:v>
                </c:pt>
                <c:pt idx="2">
                  <c:v>N=256, M=300000</c:v>
                </c:pt>
              </c:strCache>
            </c:strRef>
          </c:cat>
          <c:val>
            <c:numRef>
              <c:f>Φύλλο1!$B$2:$B$4</c:f>
              <c:numCache>
                <c:formatCode>General</c:formatCode>
                <c:ptCount val="3"/>
                <c:pt idx="0">
                  <c:v>1.4536E-2</c:v>
                </c:pt>
                <c:pt idx="1">
                  <c:v>0.11762900000000008</c:v>
                </c:pt>
                <c:pt idx="2">
                  <c:v>0.53856599999999966</c:v>
                </c:pt>
              </c:numCache>
            </c:numRef>
          </c:val>
        </c:ser>
        <c:ser>
          <c:idx val="1"/>
          <c:order val="1"/>
          <c:tx>
            <c:strRef>
              <c:f>Φύλλο1!$C$1</c:f>
              <c:strCache>
                <c:ptCount val="1"/>
                <c:pt idx="0">
                  <c:v>ARM</c:v>
                </c:pt>
              </c:strCache>
            </c:strRef>
          </c:tx>
          <c:dLbls>
            <c:dLbl>
              <c:idx val="0"/>
              <c:layout>
                <c:manualLayout>
                  <c:x val="-4.8582764852817276E-2"/>
                  <c:y val="-3.6697822554089571E-2"/>
                </c:manualLayout>
              </c:layout>
              <c:showVal val="1"/>
            </c:dLbl>
            <c:showVal val="1"/>
          </c:dLbls>
          <c:cat>
            <c:strRef>
              <c:f>Φύλλο1!$A$2:$A$4</c:f>
              <c:strCache>
                <c:ptCount val="3"/>
                <c:pt idx="0">
                  <c:v>N=32, M=65536</c:v>
                </c:pt>
                <c:pt idx="1">
                  <c:v>N=256, M=65536</c:v>
                </c:pt>
                <c:pt idx="2">
                  <c:v>N=256, M=300000</c:v>
                </c:pt>
              </c:strCache>
            </c:strRef>
          </c:cat>
          <c:val>
            <c:numRef>
              <c:f>Φύλλο1!$C$2:$C$4</c:f>
              <c:numCache>
                <c:formatCode>General</c:formatCode>
                <c:ptCount val="3"/>
                <c:pt idx="0">
                  <c:v>7.2700000000000056E-2</c:v>
                </c:pt>
                <c:pt idx="1">
                  <c:v>0.56089999999999995</c:v>
                </c:pt>
                <c:pt idx="2" formatCode="0.0000">
                  <c:v>2.528</c:v>
                </c:pt>
              </c:numCache>
            </c:numRef>
          </c:val>
        </c:ser>
        <c:marker val="1"/>
        <c:axId val="118467200"/>
        <c:axId val="129385216"/>
      </c:lineChart>
      <c:catAx>
        <c:axId val="118467200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GB"/>
                  <a:t>Input</a:t>
                </a:r>
                <a:r>
                  <a:rPr lang="en-GB" baseline="0"/>
                  <a:t>  Sizes (N,M)</a:t>
                </a:r>
                <a:endParaRPr lang="el-GR"/>
              </a:p>
            </c:rich>
          </c:tx>
          <c:layout/>
        </c:title>
        <c:tickLblPos val="nextTo"/>
        <c:crossAx val="129385216"/>
        <c:crosses val="autoZero"/>
        <c:auto val="1"/>
        <c:lblAlgn val="ctr"/>
        <c:lblOffset val="100"/>
      </c:catAx>
      <c:valAx>
        <c:axId val="129385216"/>
        <c:scaling>
          <c:orientation val="minMax"/>
        </c:scaling>
        <c:axPos val="l"/>
        <c:majorGridlines/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en-GB"/>
                  <a:t>Time</a:t>
                </a:r>
                <a:r>
                  <a:rPr lang="en-GB" baseline="0"/>
                  <a:t> (sec)</a:t>
                </a:r>
                <a:endParaRPr lang="el-GR"/>
              </a:p>
            </c:rich>
          </c:tx>
          <c:layout/>
        </c:title>
        <c:numFmt formatCode="General" sourceLinked="1"/>
        <c:tickLblPos val="nextTo"/>
        <c:crossAx val="118467200"/>
        <c:crosses val="autoZero"/>
        <c:crossBetween val="between"/>
      </c:valAx>
    </c:plotArea>
    <c:legend>
      <c:legendPos val="r"/>
      <c:layout/>
    </c:legend>
    <c:plotVisOnly val="1"/>
  </c:chart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GB"/>
  <c:chart>
    <c:autoTitleDeleted val="1"/>
    <c:plotArea>
      <c:layout/>
      <c:barChart>
        <c:barDir val="col"/>
        <c:grouping val="clustered"/>
        <c:ser>
          <c:idx val="0"/>
          <c:order val="0"/>
          <c:tx>
            <c:strRef>
              <c:f>Φύλλο1!$B$6</c:f>
              <c:strCache>
                <c:ptCount val="1"/>
                <c:pt idx="0">
                  <c:v>Arm / x86 Ratio</c:v>
                </c:pt>
              </c:strCache>
            </c:strRef>
          </c:tx>
          <c:dLbls>
            <c:showVal val="1"/>
          </c:dLbls>
          <c:cat>
            <c:strRef>
              <c:f>Φύλλο1!$A$7:$A$9</c:f>
              <c:strCache>
                <c:ptCount val="3"/>
                <c:pt idx="1">
                  <c:v>N=256, M=65K</c:v>
                </c:pt>
                <c:pt idx="2">
                  <c:v>N=256, M=300K</c:v>
                </c:pt>
              </c:strCache>
            </c:strRef>
          </c:cat>
          <c:val>
            <c:numRef>
              <c:f>Φύλλο1!$B$7:$B$9</c:f>
              <c:numCache>
                <c:formatCode>General</c:formatCode>
                <c:ptCount val="3"/>
                <c:pt idx="0">
                  <c:v>5</c:v>
                </c:pt>
                <c:pt idx="1">
                  <c:v>4.7699999999999996</c:v>
                </c:pt>
                <c:pt idx="2">
                  <c:v>4.6899999999999995</c:v>
                </c:pt>
              </c:numCache>
            </c:numRef>
          </c:val>
        </c:ser>
        <c:axId val="129401600"/>
        <c:axId val="129403520"/>
      </c:barChart>
      <c:catAx>
        <c:axId val="129401600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GB"/>
                  <a:t>Input</a:t>
                </a:r>
                <a:r>
                  <a:rPr lang="en-GB" baseline="0"/>
                  <a:t> Sizes (N,M)</a:t>
                </a:r>
                <a:endParaRPr lang="el-GR"/>
              </a:p>
            </c:rich>
          </c:tx>
          <c:layout/>
        </c:title>
        <c:tickLblPos val="nextTo"/>
        <c:crossAx val="129403520"/>
        <c:crosses val="autoZero"/>
        <c:auto val="1"/>
        <c:lblAlgn val="ctr"/>
        <c:lblOffset val="100"/>
      </c:catAx>
      <c:valAx>
        <c:axId val="129403520"/>
        <c:scaling>
          <c:orientation val="minMax"/>
        </c:scaling>
        <c:axPos val="l"/>
        <c:majorGridlines/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en-GB"/>
                  <a:t>ARM/x86</a:t>
                </a:r>
                <a:r>
                  <a:rPr lang="en-GB" baseline="0"/>
                  <a:t> </a:t>
                </a:r>
              </a:p>
              <a:p>
                <a:pPr>
                  <a:defRPr/>
                </a:pPr>
                <a:r>
                  <a:rPr lang="en-GB" baseline="0"/>
                  <a:t>Ratio</a:t>
                </a:r>
                <a:endParaRPr lang="el-GR"/>
              </a:p>
            </c:rich>
          </c:tx>
          <c:layout/>
        </c:title>
        <c:numFmt formatCode="General" sourceLinked="1"/>
        <c:tickLblPos val="nextTo"/>
        <c:crossAx val="129401600"/>
        <c:crosses val="autoZero"/>
        <c:crossBetween val="between"/>
      </c:valAx>
    </c:plotArea>
    <c:plotVisOnly val="1"/>
  </c:chart>
  <c:externalData r:id="rId1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GB"/>
  <c:chart>
    <c:title>
      <c:layout/>
    </c:title>
    <c:plotArea>
      <c:layout/>
      <c:barChart>
        <c:barDir val="col"/>
        <c:grouping val="clustered"/>
        <c:ser>
          <c:idx val="0"/>
          <c:order val="0"/>
          <c:tx>
            <c:strRef>
              <c:f>Φύλλο1!$N$17</c:f>
              <c:strCache>
                <c:ptCount val="1"/>
                <c:pt idx="0">
                  <c:v>Total Time (ms)</c:v>
                </c:pt>
              </c:strCache>
            </c:strRef>
          </c:tx>
          <c:dLbls>
            <c:dLblPos val="outEnd"/>
            <c:showVal val="1"/>
          </c:dLbls>
          <c:cat>
            <c:strRef>
              <c:f>Φύλλο1!$M$18:$M$22</c:f>
              <c:strCache>
                <c:ptCount val="5"/>
                <c:pt idx="0">
                  <c:v>Step 1</c:v>
                </c:pt>
                <c:pt idx="1">
                  <c:v>Step 2</c:v>
                </c:pt>
                <c:pt idx="2">
                  <c:v>Step 3</c:v>
                </c:pt>
                <c:pt idx="3">
                  <c:v>Step 4</c:v>
                </c:pt>
                <c:pt idx="4">
                  <c:v>Step5</c:v>
                </c:pt>
              </c:strCache>
            </c:strRef>
          </c:cat>
          <c:val>
            <c:numRef>
              <c:f>Φύλλο1!$N$18:$N$22</c:f>
              <c:numCache>
                <c:formatCode>General</c:formatCode>
                <c:ptCount val="5"/>
                <c:pt idx="0">
                  <c:v>254.11099999999999</c:v>
                </c:pt>
                <c:pt idx="1">
                  <c:v>99.572999999999979</c:v>
                </c:pt>
                <c:pt idx="2">
                  <c:v>13.304</c:v>
                </c:pt>
                <c:pt idx="3">
                  <c:v>7.7219999999999995</c:v>
                </c:pt>
                <c:pt idx="4">
                  <c:v>1.9910000000000001</c:v>
                </c:pt>
              </c:numCache>
            </c:numRef>
          </c:val>
        </c:ser>
        <c:dLbls>
          <c:showVal val="1"/>
        </c:dLbls>
        <c:axId val="129569536"/>
        <c:axId val="129622784"/>
      </c:barChart>
      <c:catAx>
        <c:axId val="129569536"/>
        <c:scaling>
          <c:orientation val="minMax"/>
        </c:scaling>
        <c:axPos val="b"/>
        <c:tickLblPos val="nextTo"/>
        <c:crossAx val="129622784"/>
        <c:crosses val="autoZero"/>
        <c:auto val="1"/>
        <c:lblAlgn val="ctr"/>
        <c:lblOffset val="100"/>
      </c:catAx>
      <c:valAx>
        <c:axId val="129622784"/>
        <c:scaling>
          <c:orientation val="minMax"/>
        </c:scaling>
        <c:delete val="1"/>
        <c:axPos val="l"/>
        <c:majorGridlines/>
        <c:numFmt formatCode="General" sourceLinked="1"/>
        <c:tickLblPos val="nextTo"/>
        <c:crossAx val="129569536"/>
        <c:crosses val="autoZero"/>
        <c:crossBetween val="between"/>
      </c:valAx>
    </c:plotArea>
    <c:plotVisOnly val="1"/>
  </c:chart>
  <c:externalData r:id="rId1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GB"/>
  <c:chart>
    <c:title>
      <c:layout/>
    </c:title>
    <c:plotArea>
      <c:layout/>
      <c:barChart>
        <c:barDir val="col"/>
        <c:grouping val="clustered"/>
        <c:ser>
          <c:idx val="0"/>
          <c:order val="0"/>
          <c:tx>
            <c:strRef>
              <c:f>Φύλλο1!$N$5</c:f>
              <c:strCache>
                <c:ptCount val="1"/>
                <c:pt idx="0">
                  <c:v>Speedup (x)</c:v>
                </c:pt>
              </c:strCache>
            </c:strRef>
          </c:tx>
          <c:dLbls>
            <c:dLblPos val="outEnd"/>
            <c:showVal val="1"/>
          </c:dLbls>
          <c:cat>
            <c:strRef>
              <c:f>Φύλλο1!$M$6:$M$10</c:f>
              <c:strCache>
                <c:ptCount val="5"/>
                <c:pt idx="0">
                  <c:v>Step 1</c:v>
                </c:pt>
                <c:pt idx="1">
                  <c:v>Step 2</c:v>
                </c:pt>
                <c:pt idx="2">
                  <c:v>Step 3</c:v>
                </c:pt>
                <c:pt idx="3">
                  <c:v>Step 4</c:v>
                </c:pt>
                <c:pt idx="4">
                  <c:v>Step 5</c:v>
                </c:pt>
              </c:strCache>
            </c:strRef>
          </c:cat>
          <c:val>
            <c:numRef>
              <c:f>Φύλλο1!$N$6:$N$10</c:f>
              <c:numCache>
                <c:formatCode>General</c:formatCode>
                <c:ptCount val="5"/>
                <c:pt idx="0">
                  <c:v>1</c:v>
                </c:pt>
                <c:pt idx="1">
                  <c:v>2.5</c:v>
                </c:pt>
                <c:pt idx="2">
                  <c:v>19.100000000000001</c:v>
                </c:pt>
                <c:pt idx="3">
                  <c:v>32.9</c:v>
                </c:pt>
                <c:pt idx="4">
                  <c:v>127.6</c:v>
                </c:pt>
              </c:numCache>
            </c:numRef>
          </c:val>
        </c:ser>
        <c:dLbls>
          <c:showVal val="1"/>
        </c:dLbls>
        <c:axId val="130101632"/>
        <c:axId val="130103168"/>
      </c:barChart>
      <c:catAx>
        <c:axId val="130101632"/>
        <c:scaling>
          <c:orientation val="minMax"/>
        </c:scaling>
        <c:axPos val="b"/>
        <c:tickLblPos val="nextTo"/>
        <c:crossAx val="130103168"/>
        <c:crosses val="autoZero"/>
        <c:auto val="1"/>
        <c:lblAlgn val="ctr"/>
        <c:lblOffset val="100"/>
      </c:catAx>
      <c:valAx>
        <c:axId val="130103168"/>
        <c:scaling>
          <c:orientation val="minMax"/>
        </c:scaling>
        <c:delete val="1"/>
        <c:axPos val="l"/>
        <c:majorGridlines/>
        <c:numFmt formatCode="General" sourceLinked="1"/>
        <c:tickLblPos val="nextTo"/>
        <c:crossAx val="130101632"/>
        <c:crosses val="autoZero"/>
        <c:crossBetween val="between"/>
      </c:valAx>
    </c:plotArea>
    <c:plotVisOnly val="1"/>
  </c:chart>
  <c:externalData r:id="rId1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GB"/>
  <c:chart>
    <c:title>
      <c:layout/>
    </c:title>
    <c:plotArea>
      <c:layout/>
      <c:barChart>
        <c:barDir val="col"/>
        <c:grouping val="clustered"/>
        <c:ser>
          <c:idx val="0"/>
          <c:order val="0"/>
          <c:tx>
            <c:strRef>
              <c:f>Φύλλο1!$B$25</c:f>
              <c:strCache>
                <c:ptCount val="1"/>
                <c:pt idx="0">
                  <c:v>BRAMs</c:v>
                </c:pt>
              </c:strCache>
            </c:strRef>
          </c:tx>
          <c:dLbls>
            <c:dLblPos val="outEnd"/>
            <c:showVal val="1"/>
          </c:dLbls>
          <c:cat>
            <c:strRef>
              <c:f>Φύλλο1!$A$26:$A$30</c:f>
              <c:strCache>
                <c:ptCount val="5"/>
                <c:pt idx="0">
                  <c:v>Step 1</c:v>
                </c:pt>
                <c:pt idx="1">
                  <c:v>Step 2</c:v>
                </c:pt>
                <c:pt idx="2">
                  <c:v>Step 3</c:v>
                </c:pt>
                <c:pt idx="3">
                  <c:v>Step 4</c:v>
                </c:pt>
                <c:pt idx="4">
                  <c:v>Step 5</c:v>
                </c:pt>
              </c:strCache>
            </c:strRef>
          </c:cat>
          <c:val>
            <c:numRef>
              <c:f>Φύλλο1!$B$26:$B$30</c:f>
              <c:numCache>
                <c:formatCode>General</c:formatCode>
                <c:ptCount val="5"/>
                <c:pt idx="0">
                  <c:v>6</c:v>
                </c:pt>
                <c:pt idx="1">
                  <c:v>21</c:v>
                </c:pt>
                <c:pt idx="2">
                  <c:v>17</c:v>
                </c:pt>
                <c:pt idx="3">
                  <c:v>2</c:v>
                </c:pt>
                <c:pt idx="4">
                  <c:v>11</c:v>
                </c:pt>
              </c:numCache>
            </c:numRef>
          </c:val>
        </c:ser>
        <c:dLbls>
          <c:showVal val="1"/>
        </c:dLbls>
        <c:axId val="128874368"/>
        <c:axId val="128875904"/>
      </c:barChart>
      <c:catAx>
        <c:axId val="128874368"/>
        <c:scaling>
          <c:orientation val="minMax"/>
        </c:scaling>
        <c:axPos val="b"/>
        <c:tickLblPos val="nextTo"/>
        <c:crossAx val="128875904"/>
        <c:crosses val="autoZero"/>
        <c:auto val="1"/>
        <c:lblAlgn val="ctr"/>
        <c:lblOffset val="100"/>
      </c:catAx>
      <c:valAx>
        <c:axId val="128875904"/>
        <c:scaling>
          <c:orientation val="minMax"/>
        </c:scaling>
        <c:delete val="1"/>
        <c:axPos val="l"/>
        <c:majorGridlines/>
        <c:numFmt formatCode="General" sourceLinked="1"/>
        <c:tickLblPos val="nextTo"/>
        <c:crossAx val="128874368"/>
        <c:crosses val="autoZero"/>
        <c:crossBetween val="between"/>
      </c:valAx>
    </c:plotArea>
    <c:plotVisOnly val="1"/>
  </c:chart>
  <c:externalData r:id="rId1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GB"/>
  <c:chart>
    <c:title>
      <c:layout/>
    </c:title>
    <c:plotArea>
      <c:layout/>
      <c:barChart>
        <c:barDir val="col"/>
        <c:grouping val="clustered"/>
        <c:ser>
          <c:idx val="0"/>
          <c:order val="0"/>
          <c:tx>
            <c:strRef>
              <c:f>Φύλλο1!$B$33</c:f>
              <c:strCache>
                <c:ptCount val="1"/>
                <c:pt idx="0">
                  <c:v>LUTs</c:v>
                </c:pt>
              </c:strCache>
            </c:strRef>
          </c:tx>
          <c:dLbls>
            <c:dLblPos val="outEnd"/>
            <c:showVal val="1"/>
          </c:dLbls>
          <c:cat>
            <c:strRef>
              <c:f>Φύλλο1!$A$34:$A$38</c:f>
              <c:strCache>
                <c:ptCount val="5"/>
                <c:pt idx="0">
                  <c:v>Step 1</c:v>
                </c:pt>
                <c:pt idx="1">
                  <c:v>Step 2</c:v>
                </c:pt>
                <c:pt idx="2">
                  <c:v>Step 3</c:v>
                </c:pt>
                <c:pt idx="3">
                  <c:v>Step 4</c:v>
                </c:pt>
                <c:pt idx="4">
                  <c:v>Step 5</c:v>
                </c:pt>
              </c:strCache>
            </c:strRef>
          </c:cat>
          <c:val>
            <c:numRef>
              <c:f>Φύλλο1!$B$34:$B$38</c:f>
              <c:numCache>
                <c:formatCode>General</c:formatCode>
                <c:ptCount val="5"/>
                <c:pt idx="0">
                  <c:v>4089</c:v>
                </c:pt>
                <c:pt idx="1">
                  <c:v>14572</c:v>
                </c:pt>
                <c:pt idx="2">
                  <c:v>11285</c:v>
                </c:pt>
                <c:pt idx="3">
                  <c:v>9076</c:v>
                </c:pt>
                <c:pt idx="4">
                  <c:v>10293</c:v>
                </c:pt>
              </c:numCache>
            </c:numRef>
          </c:val>
        </c:ser>
        <c:dLbls>
          <c:showVal val="1"/>
        </c:dLbls>
        <c:axId val="130149376"/>
        <c:axId val="130425600"/>
      </c:barChart>
      <c:catAx>
        <c:axId val="130149376"/>
        <c:scaling>
          <c:orientation val="minMax"/>
        </c:scaling>
        <c:axPos val="b"/>
        <c:tickLblPos val="nextTo"/>
        <c:crossAx val="130425600"/>
        <c:crosses val="autoZero"/>
        <c:auto val="1"/>
        <c:lblAlgn val="ctr"/>
        <c:lblOffset val="100"/>
      </c:catAx>
      <c:valAx>
        <c:axId val="130425600"/>
        <c:scaling>
          <c:orientation val="minMax"/>
        </c:scaling>
        <c:delete val="1"/>
        <c:axPos val="l"/>
        <c:majorGridlines/>
        <c:numFmt formatCode="General" sourceLinked="1"/>
        <c:tickLblPos val="nextTo"/>
        <c:crossAx val="130149376"/>
        <c:crosses val="autoZero"/>
        <c:crossBetween val="between"/>
      </c:valAx>
    </c:plotArea>
    <c:plotVisOnly val="1"/>
  </c:chart>
  <c:externalData r:id="rId1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GB"/>
  <c:chart>
    <c:title>
      <c:layout/>
    </c:title>
    <c:plotArea>
      <c:layout/>
      <c:barChart>
        <c:barDir val="col"/>
        <c:grouping val="clustered"/>
        <c:ser>
          <c:idx val="0"/>
          <c:order val="0"/>
          <c:tx>
            <c:strRef>
              <c:f>Φύλλο1!$N$32</c:f>
              <c:strCache>
                <c:ptCount val="1"/>
                <c:pt idx="0">
                  <c:v>Registers</c:v>
                </c:pt>
              </c:strCache>
            </c:strRef>
          </c:tx>
          <c:dLbls>
            <c:dLblPos val="outEnd"/>
            <c:showVal val="1"/>
          </c:dLbls>
          <c:cat>
            <c:strRef>
              <c:f>Φύλλο1!$M$33:$M$37</c:f>
              <c:strCache>
                <c:ptCount val="5"/>
                <c:pt idx="0">
                  <c:v>Step 1</c:v>
                </c:pt>
                <c:pt idx="1">
                  <c:v>Step 2</c:v>
                </c:pt>
                <c:pt idx="2">
                  <c:v>Step 3</c:v>
                </c:pt>
                <c:pt idx="3">
                  <c:v>Step 4</c:v>
                </c:pt>
                <c:pt idx="4">
                  <c:v>Step 5</c:v>
                </c:pt>
              </c:strCache>
            </c:strRef>
          </c:cat>
          <c:val>
            <c:numRef>
              <c:f>Φύλλο1!$N$33:$N$37</c:f>
              <c:numCache>
                <c:formatCode>General</c:formatCode>
                <c:ptCount val="5"/>
                <c:pt idx="0">
                  <c:v>6.1820000000000004</c:v>
                </c:pt>
                <c:pt idx="1">
                  <c:v>15.537000000000001</c:v>
                </c:pt>
                <c:pt idx="2">
                  <c:v>9.5559999999999992</c:v>
                </c:pt>
                <c:pt idx="3">
                  <c:v>5.3289999999999997</c:v>
                </c:pt>
                <c:pt idx="4">
                  <c:v>9.3130000000000006</c:v>
                </c:pt>
              </c:numCache>
            </c:numRef>
          </c:val>
        </c:ser>
        <c:dLbls>
          <c:showVal val="1"/>
        </c:dLbls>
        <c:axId val="99730176"/>
        <c:axId val="100593664"/>
      </c:barChart>
      <c:catAx>
        <c:axId val="99730176"/>
        <c:scaling>
          <c:orientation val="minMax"/>
        </c:scaling>
        <c:axPos val="b"/>
        <c:tickLblPos val="nextTo"/>
        <c:crossAx val="100593664"/>
        <c:crosses val="autoZero"/>
        <c:auto val="1"/>
        <c:lblAlgn val="ctr"/>
        <c:lblOffset val="100"/>
      </c:catAx>
      <c:valAx>
        <c:axId val="100593664"/>
        <c:scaling>
          <c:orientation val="minMax"/>
        </c:scaling>
        <c:delete val="1"/>
        <c:axPos val="l"/>
        <c:majorGridlines/>
        <c:numFmt formatCode="General" sourceLinked="1"/>
        <c:tickLblPos val="nextTo"/>
        <c:crossAx val="99730176"/>
        <c:crosses val="autoZero"/>
        <c:crossBetween val="between"/>
      </c:valAx>
    </c:plotArea>
    <c:plotVisOnly val="1"/>
  </c:chart>
  <c:externalData r:id="rId1"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GB"/>
  <c:chart>
    <c:title>
      <c:layout/>
    </c:title>
    <c:plotArea>
      <c:layout/>
      <c:barChart>
        <c:barDir val="col"/>
        <c:grouping val="clustered"/>
        <c:ser>
          <c:idx val="0"/>
          <c:order val="0"/>
          <c:tx>
            <c:strRef>
              <c:f>Φύλλο1!$I$54</c:f>
              <c:strCache>
                <c:ptCount val="1"/>
                <c:pt idx="0">
                  <c:v>Bigger Inputs (ms)</c:v>
                </c:pt>
              </c:strCache>
            </c:strRef>
          </c:tx>
          <c:dLbls>
            <c:dLblPos val="outEnd"/>
            <c:showVal val="1"/>
          </c:dLbls>
          <c:cat>
            <c:strRef>
              <c:f>Φύλλο1!$H$55:$H$59</c:f>
              <c:strCache>
                <c:ptCount val="5"/>
                <c:pt idx="0">
                  <c:v>N=32, M=65536</c:v>
                </c:pt>
                <c:pt idx="1">
                  <c:v>N=32, M=100000</c:v>
                </c:pt>
                <c:pt idx="2">
                  <c:v>N=32, M=125000</c:v>
                </c:pt>
                <c:pt idx="3">
                  <c:v>N=64, M=65536</c:v>
                </c:pt>
                <c:pt idx="4">
                  <c:v>N=64, M=125000</c:v>
                </c:pt>
              </c:strCache>
            </c:strRef>
          </c:cat>
          <c:val>
            <c:numRef>
              <c:f>Φύλλο1!$I$55:$I$59</c:f>
              <c:numCache>
                <c:formatCode>General</c:formatCode>
                <c:ptCount val="5"/>
                <c:pt idx="0">
                  <c:v>1.9910000000000001</c:v>
                </c:pt>
                <c:pt idx="1">
                  <c:v>2.5</c:v>
                </c:pt>
                <c:pt idx="2">
                  <c:v>2.92</c:v>
                </c:pt>
                <c:pt idx="3">
                  <c:v>29</c:v>
                </c:pt>
                <c:pt idx="4">
                  <c:v>54.7</c:v>
                </c:pt>
              </c:numCache>
            </c:numRef>
          </c:val>
        </c:ser>
        <c:dLbls>
          <c:showVal val="1"/>
        </c:dLbls>
        <c:axId val="88894464"/>
        <c:axId val="88901504"/>
      </c:barChart>
      <c:catAx>
        <c:axId val="88894464"/>
        <c:scaling>
          <c:orientation val="minMax"/>
        </c:scaling>
        <c:axPos val="b"/>
        <c:tickLblPos val="nextTo"/>
        <c:crossAx val="88901504"/>
        <c:crosses val="autoZero"/>
        <c:auto val="1"/>
        <c:lblAlgn val="ctr"/>
        <c:lblOffset val="100"/>
      </c:catAx>
      <c:valAx>
        <c:axId val="88901504"/>
        <c:scaling>
          <c:orientation val="minMax"/>
        </c:scaling>
        <c:delete val="1"/>
        <c:axPos val="l"/>
        <c:majorGridlines/>
        <c:numFmt formatCode="General" sourceLinked="1"/>
        <c:tickLblPos val="nextTo"/>
        <c:crossAx val="88894464"/>
        <c:crosses val="autoZero"/>
        <c:crossBetween val="between"/>
      </c:valAx>
    </c:plotArea>
    <c:plotVisOnly val="1"/>
  </c:chart>
  <c:externalData r:id="rId1"/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A74EB7-856E-45FD-83F0-5F7C6F3E4372}" type="datetimeFigureOut">
              <a:rPr lang="en-US"/>
              <a:pPr/>
              <a:t>6/3/2026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886E15-F82A-4596-A46C-375C6D3981E1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xmlns="" val="8683081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1B0E40-8125-41F8-BB6C-139D8D531A4F}" type="datetimeFigureOut">
              <a:rPr lang="en-US"/>
              <a:pPr/>
              <a:t>6/3/2026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105DB2-FD3E-441D-8B7E-7AE83ECE27B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xmlns="" val="2894720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block"/>
          <p:cNvSpPr/>
          <p:nvPr/>
        </p:nvSpPr>
        <p:spPr bwMode="white">
          <a:xfrm>
            <a:off x="1142936" y="1600200"/>
            <a:ext cx="9902952" cy="32766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top graphic" descr="Top border design"/>
          <p:cNvGrpSpPr/>
          <p:nvPr/>
        </p:nvGrpSpPr>
        <p:grpSpPr>
          <a:xfrm>
            <a:off x="1279" y="0"/>
            <a:ext cx="12188952" cy="429768"/>
            <a:chOff x="1279" y="0"/>
            <a:chExt cx="12188952" cy="429768"/>
          </a:xfrm>
        </p:grpSpPr>
        <p:sp>
          <p:nvSpPr>
            <p:cNvPr id="8" name="Rectangle 7"/>
            <p:cNvSpPr/>
            <p:nvPr/>
          </p:nvSpPr>
          <p:spPr>
            <a:xfrm>
              <a:off x="1279" y="0"/>
              <a:ext cx="12188952" cy="2286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279" y="228600"/>
              <a:ext cx="12188952" cy="20116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279" y="306324"/>
              <a:ext cx="12188952" cy="457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3" name="bottom graphic" descr="Bottom border design"/>
          <p:cNvGrpSpPr/>
          <p:nvPr/>
        </p:nvGrpSpPr>
        <p:grpSpPr>
          <a:xfrm>
            <a:off x="0" y="6080760"/>
            <a:ext cx="12190231" cy="777240"/>
            <a:chOff x="0" y="6080760"/>
            <a:chExt cx="12190231" cy="777240"/>
          </a:xfrm>
        </p:grpSpPr>
        <p:sp>
          <p:nvSpPr>
            <p:cNvPr id="13" name="Rectangle 12"/>
            <p:cNvSpPr/>
            <p:nvPr/>
          </p:nvSpPr>
          <p:spPr>
            <a:xfrm>
              <a:off x="0" y="6217920"/>
              <a:ext cx="12188825" cy="64008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003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279" y="6080760"/>
              <a:ext cx="12188952" cy="9721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279" y="6172200"/>
              <a:ext cx="12188952" cy="274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black">
          <a:xfrm>
            <a:off x="1522414" y="1905000"/>
            <a:ext cx="9143998" cy="266700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lang="en-US" b="0" i="0" smtClean="0">
                <a:effectLst/>
              </a:defRPr>
            </a:lvl1pPr>
          </a:lstStyle>
          <a:p>
            <a:r>
              <a:rPr lang="en-US" b="0" i="0" dirty="0">
                <a:effectLst/>
                <a:latin typeface="Arial" panose="020B0604020202020204" pitchFamily="34" charset="0"/>
              </a:rPr>
              <a:t>Embedded Systems LAB 3 – FPGAs as Accelerators</a:t>
            </a:r>
            <a:endParaRPr lang="en-US" b="0" dirty="0">
              <a:solidFill>
                <a:srgbClr val="D4D4D4"/>
              </a:solidFill>
              <a:effectLst/>
              <a:latin typeface="Roboto Mono" panose="020F0502020204030204" pitchFamily="49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2413" y="5029200"/>
            <a:ext cx="8229598" cy="838200"/>
          </a:xfrm>
        </p:spPr>
        <p:txBody>
          <a:bodyPr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Ioannis Papadopoulos, Maria </a:t>
            </a:r>
            <a:r>
              <a:rPr lang="en-US" dirty="0" err="1"/>
              <a:t>Ilektra</a:t>
            </a:r>
            <a:r>
              <a:rPr lang="en-US" dirty="0"/>
              <a:t> </a:t>
            </a:r>
            <a:r>
              <a:rPr lang="en-US" dirty="0" err="1"/>
              <a:t>Tzormpatzaki</a:t>
            </a:r>
            <a:endParaRPr lang="en-US" dirty="0"/>
          </a:p>
          <a:p>
            <a:r>
              <a:rPr lang="en-US" dirty="0"/>
              <a:t>Student IDs: 03899, 03993</a:t>
            </a:r>
            <a:endParaRPr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/>
              <a:pPr/>
              <a:t>6/3/2026</a:t>
            </a:fld>
            <a:endParaRPr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xmlns="" val="18949359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/>
              <a:pPr/>
              <a:t>6/3/2026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xmlns="" val="5064757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1905000"/>
            <a:ext cx="9144000" cy="2667000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4876800"/>
            <a:ext cx="8229598" cy="1143000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36636D-D922-432D-A958-524484B5923D}" type="datetimeFigureOut">
              <a:rPr lang="en-US"/>
              <a:pPr/>
              <a:t>6/3/2026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xmlns="" val="5587292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3" y="1904999"/>
            <a:ext cx="4435564" cy="408892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849" y="1904999"/>
            <a:ext cx="4435564" cy="408892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/>
              <a:pPr/>
              <a:t>6/3/2026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xmlns="" val="12360678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828800"/>
            <a:ext cx="4419599" cy="685801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3" y="2590801"/>
            <a:ext cx="4419599" cy="3429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6814" y="1828800"/>
            <a:ext cx="4419599" cy="685801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6814" y="2590801"/>
            <a:ext cx="4419599" cy="3429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/>
              <a:pPr/>
              <a:t>6/3/2026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xmlns="" val="14367623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/>
              <a:pPr/>
              <a:t>6/3/2026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xmlns="" val="30231990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ottom graphic"/>
          <p:cNvGrpSpPr/>
          <p:nvPr userDrawn="1"/>
        </p:nvGrpSpPr>
        <p:grpSpPr>
          <a:xfrm>
            <a:off x="0" y="6309360"/>
            <a:ext cx="12190231" cy="548640"/>
            <a:chOff x="0" y="6309360"/>
            <a:chExt cx="12190231" cy="548640"/>
          </a:xfrm>
        </p:grpSpPr>
        <p:sp>
          <p:nvSpPr>
            <p:cNvPr id="7" name="Rectangle 6"/>
            <p:cNvSpPr/>
            <p:nvPr/>
          </p:nvSpPr>
          <p:spPr>
            <a:xfrm>
              <a:off x="0" y="6400800"/>
              <a:ext cx="12188825" cy="457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003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1279" y="6309360"/>
              <a:ext cx="12188952" cy="9721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279" y="6379143"/>
              <a:ext cx="12188952" cy="274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/>
              <a:pPr/>
              <a:t>6/3/2026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xmlns="" val="7096112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ame" descr="Border design"/>
          <p:cNvSpPr/>
          <p:nvPr/>
        </p:nvSpPr>
        <p:spPr>
          <a:xfrm>
            <a:off x="1217610" y="1019175"/>
            <a:ext cx="6126480" cy="4572000"/>
          </a:xfrm>
          <a:prstGeom prst="rect">
            <a:avLst/>
          </a:prstGeom>
          <a:noFill/>
          <a:ln w="101600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3214" y="1371600"/>
            <a:ext cx="3124200" cy="2057400"/>
          </a:xfrm>
        </p:spPr>
        <p:txBody>
          <a:bodyPr anchor="b">
            <a:normAutofit/>
          </a:bodyPr>
          <a:lstStyle>
            <a:lvl1pPr algn="l">
              <a:defRPr sz="32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91930" y="1293495"/>
            <a:ext cx="5577840" cy="402336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23214" y="3536829"/>
            <a:ext cx="3124200" cy="1797169"/>
          </a:xfrm>
        </p:spPr>
        <p:txBody>
          <a:bodyPr>
            <a:normAutofit/>
          </a:bodyPr>
          <a:lstStyle>
            <a:lvl1pPr marL="0" indent="0">
              <a:spcBef>
                <a:spcPts val="8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/>
              <a:pPr/>
              <a:t>6/3/2026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xmlns="" val="19338663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ame" descr="Border design"/>
          <p:cNvSpPr/>
          <p:nvPr/>
        </p:nvSpPr>
        <p:spPr>
          <a:xfrm>
            <a:off x="1217610" y="1019175"/>
            <a:ext cx="6126480" cy="4572000"/>
          </a:xfrm>
          <a:prstGeom prst="rect">
            <a:avLst/>
          </a:prstGeom>
          <a:noFill/>
          <a:ln w="101600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3214" y="1371600"/>
            <a:ext cx="3124200" cy="205740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1400490" y="1202055"/>
            <a:ext cx="5760720" cy="4206240"/>
          </a:xfrm>
          <a:solidFill>
            <a:schemeClr val="bg1">
              <a:lumMod val="95000"/>
            </a:schemeClr>
          </a:solidFill>
        </p:spPr>
        <p:txBody>
          <a:bodyPr tIns="914400">
            <a:normAutofit/>
          </a:bodyPr>
          <a:lstStyle>
            <a:lvl1pPr marL="0" indent="0" algn="ctr">
              <a:spcBef>
                <a:spcPts val="0"/>
              </a:spcBef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23214" y="3536829"/>
            <a:ext cx="3124200" cy="1797171"/>
          </a:xfrm>
        </p:spPr>
        <p:txBody>
          <a:bodyPr>
            <a:normAutofit/>
          </a:bodyPr>
          <a:lstStyle>
            <a:lvl1pPr marL="0" indent="0">
              <a:spcBef>
                <a:spcPts val="8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/>
              <a:pPr/>
              <a:t>6/3/2026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xmlns="" val="18968422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/>
              <a:pPr/>
              <a:t>6/3/2026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xmlns="" val="34778285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94507" y="609600"/>
            <a:ext cx="1143001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3" y="609600"/>
            <a:ext cx="7696198" cy="54102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/>
              <a:pPr/>
              <a:t>6/3/2026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xmlns="" val="10403264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bottom graphic" descr="Bottom border design"/>
          <p:cNvGrpSpPr/>
          <p:nvPr/>
        </p:nvGrpSpPr>
        <p:grpSpPr>
          <a:xfrm>
            <a:off x="0" y="6309360"/>
            <a:ext cx="12190231" cy="548640"/>
            <a:chOff x="0" y="6309360"/>
            <a:chExt cx="12190231" cy="548640"/>
          </a:xfrm>
        </p:grpSpPr>
        <p:sp>
          <p:nvSpPr>
            <p:cNvPr id="7" name="Rectangle 6"/>
            <p:cNvSpPr/>
            <p:nvPr/>
          </p:nvSpPr>
          <p:spPr>
            <a:xfrm>
              <a:off x="0" y="6400800"/>
              <a:ext cx="12188825" cy="457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003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1279" y="6309360"/>
              <a:ext cx="12188952" cy="9721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279" y="6379143"/>
              <a:ext cx="12188952" cy="274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0" name="top graphic" descr="Top border design"/>
          <p:cNvGrpSpPr/>
          <p:nvPr/>
        </p:nvGrpSpPr>
        <p:grpSpPr>
          <a:xfrm>
            <a:off x="1279" y="0"/>
            <a:ext cx="12188952" cy="320040"/>
            <a:chOff x="1279" y="0"/>
            <a:chExt cx="12188952" cy="320040"/>
          </a:xfrm>
        </p:grpSpPr>
        <p:sp>
          <p:nvSpPr>
            <p:cNvPr id="11" name="Rectangle 10"/>
            <p:cNvSpPr/>
            <p:nvPr/>
          </p:nvSpPr>
          <p:spPr>
            <a:xfrm>
              <a:off x="1279" y="0"/>
              <a:ext cx="12188952" cy="17023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279" y="170234"/>
              <a:ext cx="12188952" cy="14980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279" y="231421"/>
              <a:ext cx="12188952" cy="274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876" y="609600"/>
            <a:ext cx="9143538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876" y="1905000"/>
            <a:ext cx="9143538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1507498" y="6516865"/>
            <a:ext cx="6062145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white">
          <a:xfrm>
            <a:off x="7994363" y="6516865"/>
            <a:ext cx="1327622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8E36636D-D922-432D-A958-524484B5923D}" type="datetimeFigureOut">
              <a:rPr lang="en-US" smtClean="0"/>
              <a:pPr/>
              <a:t>6/3/2026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white">
          <a:xfrm>
            <a:off x="9730094" y="6516865"/>
            <a:ext cx="93631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208845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</p:sldLayoutIdLst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Clr>
          <a:schemeClr val="tx1"/>
        </a:buClr>
        <a:buSzPct val="100000"/>
        <a:buFont typeface="Arial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/>
        </a:buClr>
        <a:buSzPct val="100000"/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SzPct val="100000"/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5544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SzPct val="100000"/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830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SzPct val="100000"/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402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3752" y="2214554"/>
            <a:ext cx="9906000" cy="1981200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>
                <a:solidFill>
                  <a:schemeClr val="bg1"/>
                </a:solidFill>
              </a:rPr>
              <a:t>EMBEDDED SYSTEMS LAB3  </a:t>
            </a:r>
            <a:r>
              <a:rPr lang="el-GR" sz="4000" dirty="0" smtClean="0">
                <a:solidFill>
                  <a:schemeClr val="bg1"/>
                </a:solidFill>
              </a:rPr>
              <a:t/>
            </a:r>
            <a:br>
              <a:rPr lang="el-GR" sz="4000" dirty="0" smtClean="0">
                <a:solidFill>
                  <a:schemeClr val="bg1"/>
                </a:solidFill>
              </a:rPr>
            </a:br>
            <a:r>
              <a:rPr lang="el-GR" sz="4000" dirty="0" smtClean="0">
                <a:solidFill>
                  <a:schemeClr val="bg1"/>
                </a:solidFill>
              </a:rPr>
              <a:t/>
            </a:r>
            <a:br>
              <a:rPr lang="el-GR" sz="4000" dirty="0" smtClean="0">
                <a:solidFill>
                  <a:schemeClr val="bg1"/>
                </a:solidFill>
              </a:rPr>
            </a:br>
            <a:r>
              <a:rPr lang="en-US" sz="4000" dirty="0" smtClean="0">
                <a:solidFill>
                  <a:schemeClr val="bg1"/>
                </a:solidFill>
              </a:rPr>
              <a:t>FPGAS AS ACCELERATORS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Ioannis Papadopoulos, Maria </a:t>
            </a:r>
            <a:r>
              <a:rPr lang="en-US" dirty="0" err="1"/>
              <a:t>Ilektra</a:t>
            </a:r>
            <a:r>
              <a:rPr lang="en-US" dirty="0"/>
              <a:t> </a:t>
            </a:r>
            <a:r>
              <a:rPr lang="en-US" dirty="0" err="1"/>
              <a:t>Tzormpatzaki</a:t>
            </a:r>
            <a:endParaRPr lang="en-US" dirty="0"/>
          </a:p>
          <a:p>
            <a:r>
              <a:rPr lang="en-US" dirty="0"/>
              <a:t>Student IDs: 03899, 03993</a:t>
            </a:r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DF2D287E-CFC9-46C7-A8C3-CC6D05434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(x86 CPU)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7810017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522876" y="609600"/>
            <a:ext cx="9143538" cy="762000"/>
          </a:xfrm>
        </p:spPr>
        <p:txBody>
          <a:bodyPr/>
          <a:lstStyle/>
          <a:p>
            <a:r>
              <a:rPr lang="en-US" dirty="0"/>
              <a:t>LSAL Implementation on the x86 CPU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522876" y="1524000"/>
            <a:ext cx="9143538" cy="4114800"/>
          </a:xfrm>
        </p:spPr>
        <p:txBody>
          <a:bodyPr/>
          <a:lstStyle/>
          <a:p>
            <a:r>
              <a:rPr lang="en-US" dirty="0"/>
              <a:t>Nested loop structure </a:t>
            </a:r>
          </a:p>
          <a:p>
            <a:pPr lvl="1"/>
            <a:r>
              <a:rPr lang="en-US" dirty="0"/>
              <a:t>Outer loop length of the database M</a:t>
            </a:r>
          </a:p>
          <a:p>
            <a:pPr lvl="1"/>
            <a:r>
              <a:rPr lang="en-US" dirty="0"/>
              <a:t>Inner loop length of the query N</a:t>
            </a:r>
          </a:p>
          <a:p>
            <a:r>
              <a:rPr lang="en-US" dirty="0"/>
              <a:t>Find the highest score from: North-West, North, and West.</a:t>
            </a:r>
          </a:p>
          <a:p>
            <a:r>
              <a:rPr lang="en-US" dirty="0"/>
              <a:t>Store the result in Similarity and Direction Matrix.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A57EA859-313A-607B-2942-27218FB38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6012" y="4079994"/>
            <a:ext cx="4262999" cy="1733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72306093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247" y="508240"/>
            <a:ext cx="9906002" cy="711680"/>
          </a:xfrm>
        </p:spPr>
        <p:txBody>
          <a:bodyPr/>
          <a:lstStyle/>
          <a:p>
            <a:pPr algn="ctr"/>
            <a:r>
              <a:rPr lang="en-US" dirty="0"/>
              <a:t>Picking the best implementation (1)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xmlns="" val="769092060"/>
              </p:ext>
            </p:extLst>
          </p:nvPr>
        </p:nvGraphicFramePr>
        <p:xfrm>
          <a:off x="745672" y="3424016"/>
          <a:ext cx="4435476" cy="24917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47849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47849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47849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lang="en-US" dirty="0"/>
                        <a:t>Inputs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lsal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lsal_plus1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dirty="0"/>
                        <a:t>N=32 M=65536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0.016693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0.015844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dirty="0"/>
                        <a:t>N=256 M=65536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0.130641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0.120686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dirty="0"/>
                        <a:t>N=256 M=300000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0.570392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0.557866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EB880C97-B62F-D5A4-FBCF-4F68ECA482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9116" y="3438971"/>
            <a:ext cx="6074037" cy="249174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DE812FB-49FE-4BAC-C991-79F6E63CB7C8}"/>
              </a:ext>
            </a:extLst>
          </p:cNvPr>
          <p:cNvSpPr txBox="1"/>
          <p:nvPr/>
        </p:nvSpPr>
        <p:spPr>
          <a:xfrm>
            <a:off x="608012" y="2075613"/>
            <a:ext cx="69489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north = (j &gt; 0) ? </a:t>
            </a:r>
            <a:r>
              <a:rPr lang="en-US" sz="1200" dirty="0" err="1">
                <a:latin typeface="Consolas" panose="020B0609020204030204" pitchFamily="49" charset="0"/>
              </a:rPr>
              <a:t>similarity_matrix</a:t>
            </a:r>
            <a:r>
              <a:rPr lang="en-US" sz="1200" dirty="0">
                <a:latin typeface="Consolas" panose="020B0609020204030204" pitchFamily="49" charset="0"/>
              </a:rPr>
              <a:t>[index- N] : 0; 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west = (</a:t>
            </a:r>
            <a:r>
              <a:rPr lang="en-US" sz="1200" dirty="0" err="1">
                <a:latin typeface="Consolas" panose="020B0609020204030204" pitchFamily="49" charset="0"/>
              </a:rPr>
              <a:t>i</a:t>
            </a:r>
            <a:r>
              <a:rPr lang="en-US" sz="1200" dirty="0">
                <a:latin typeface="Consolas" panose="020B0609020204030204" pitchFamily="49" charset="0"/>
              </a:rPr>
              <a:t> &gt; 0) ? </a:t>
            </a:r>
            <a:r>
              <a:rPr lang="en-US" sz="1200" dirty="0" err="1">
                <a:latin typeface="Consolas" panose="020B0609020204030204" pitchFamily="49" charset="0"/>
              </a:rPr>
              <a:t>similarity_matrix</a:t>
            </a:r>
            <a:r>
              <a:rPr lang="en-US" sz="1200" dirty="0">
                <a:latin typeface="Consolas" panose="020B0609020204030204" pitchFamily="49" charset="0"/>
              </a:rPr>
              <a:t>[index- 1] : 0; 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northwest = (</a:t>
            </a:r>
            <a:r>
              <a:rPr lang="en-US" sz="1200" dirty="0" err="1">
                <a:latin typeface="Consolas" panose="020B0609020204030204" pitchFamily="49" charset="0"/>
              </a:rPr>
              <a:t>i</a:t>
            </a:r>
            <a:r>
              <a:rPr lang="en-US" sz="1200" dirty="0">
                <a:latin typeface="Consolas" panose="020B0609020204030204" pitchFamily="49" charset="0"/>
              </a:rPr>
              <a:t> &gt; 0 &amp;&amp; j &gt; 0) ? </a:t>
            </a:r>
            <a:r>
              <a:rPr lang="en-US" sz="1200" dirty="0" err="1">
                <a:latin typeface="Consolas" panose="020B0609020204030204" pitchFamily="49" charset="0"/>
              </a:rPr>
              <a:t>similarity_matrix</a:t>
            </a:r>
            <a:r>
              <a:rPr lang="en-US" sz="1200" dirty="0">
                <a:latin typeface="Consolas" panose="020B0609020204030204" pitchFamily="49" charset="0"/>
              </a:rPr>
              <a:t>[index- N- 1] : 0;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F705010E-20A3-2C84-E757-340558ED1E0E}"/>
              </a:ext>
            </a:extLst>
          </p:cNvPr>
          <p:cNvSpPr txBox="1"/>
          <p:nvPr/>
        </p:nvSpPr>
        <p:spPr>
          <a:xfrm>
            <a:off x="6780212" y="2075613"/>
            <a:ext cx="60931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north = </a:t>
            </a:r>
            <a:r>
              <a:rPr lang="en-US" sz="1200" dirty="0" err="1">
                <a:latin typeface="Consolas" panose="020B0609020204030204" pitchFamily="49" charset="0"/>
              </a:rPr>
              <a:t>similarity_matrix</a:t>
            </a:r>
            <a:r>
              <a:rPr lang="en-US" sz="1200" dirty="0">
                <a:latin typeface="Consolas" panose="020B0609020204030204" pitchFamily="49" charset="0"/>
              </a:rPr>
              <a:t>[index - N - 1];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west = </a:t>
            </a:r>
            <a:r>
              <a:rPr lang="en-US" sz="1200" dirty="0" err="1">
                <a:latin typeface="Consolas" panose="020B0609020204030204" pitchFamily="49" charset="0"/>
              </a:rPr>
              <a:t>similarity_matrix</a:t>
            </a:r>
            <a:r>
              <a:rPr lang="en-US" sz="1200" dirty="0">
                <a:latin typeface="Consolas" panose="020B0609020204030204" pitchFamily="49" charset="0"/>
              </a:rPr>
              <a:t>[index - 1];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northwest = </a:t>
            </a:r>
            <a:r>
              <a:rPr lang="en-US" sz="1200" dirty="0" err="1">
                <a:latin typeface="Consolas" panose="020B0609020204030204" pitchFamily="49" charset="0"/>
              </a:rPr>
              <a:t>similarity_matrix</a:t>
            </a:r>
            <a:r>
              <a:rPr lang="en-US" sz="1200" dirty="0">
                <a:latin typeface="Consolas" panose="020B0609020204030204" pitchFamily="49" charset="0"/>
              </a:rPr>
              <a:t>[index - N - 2];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246C068E-FE73-623B-E5DA-FFCF3507FD8F}"/>
              </a:ext>
            </a:extLst>
          </p:cNvPr>
          <p:cNvSpPr txBox="1"/>
          <p:nvPr/>
        </p:nvSpPr>
        <p:spPr>
          <a:xfrm>
            <a:off x="7999412" y="1510051"/>
            <a:ext cx="20568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Padding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662965BC-0156-76FE-325D-1C920BF65690}"/>
              </a:ext>
            </a:extLst>
          </p:cNvPr>
          <p:cNvSpPr txBox="1"/>
          <p:nvPr/>
        </p:nvSpPr>
        <p:spPr>
          <a:xfrm>
            <a:off x="1903412" y="1510051"/>
            <a:ext cx="2209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non-Padding</a:t>
            </a:r>
          </a:p>
        </p:txBody>
      </p:sp>
    </p:spTree>
    <p:extLst>
      <p:ext uri="{BB962C8B-B14F-4D97-AF65-F5344CB8AC3E}">
        <p14:creationId xmlns:p14="http://schemas.microsoft.com/office/powerpoint/2010/main" xmlns="" val="20559976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CF7BF2E-469E-9375-A069-8C2CE6202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E85A744-B759-D718-5498-948A5CB76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247" y="508240"/>
            <a:ext cx="9906002" cy="711680"/>
          </a:xfrm>
        </p:spPr>
        <p:txBody>
          <a:bodyPr/>
          <a:lstStyle/>
          <a:p>
            <a:pPr algn="ctr"/>
            <a:r>
              <a:rPr lang="en-US" dirty="0"/>
              <a:t>Picking the best implementation (2)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xmlns="" id="{0E357DC7-E266-3900-C3DF-9B16D7F50F2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xmlns="" val="1306444294"/>
              </p:ext>
            </p:extLst>
          </p:nvPr>
        </p:nvGraphicFramePr>
        <p:xfrm>
          <a:off x="593686" y="3424016"/>
          <a:ext cx="4587462" cy="24917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52915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2915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52915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lang="en-US" dirty="0"/>
                        <a:t>Inputs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lsal_plus1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lsal_outside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dirty="0"/>
                        <a:t>N=32 M=65536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0.015844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0.014536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dirty="0"/>
                        <a:t>N=256 M=65536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0.120686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0.117629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dirty="0"/>
                        <a:t>N=256 M=300000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0.557866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0.538566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7C962156-B1E0-6562-5CD8-4B76B7E5BEC6}"/>
              </a:ext>
            </a:extLst>
          </p:cNvPr>
          <p:cNvSpPr txBox="1"/>
          <p:nvPr/>
        </p:nvSpPr>
        <p:spPr>
          <a:xfrm>
            <a:off x="5423353" y="1447800"/>
            <a:ext cx="5742478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Consolas" panose="020B0609020204030204" pitchFamily="49" charset="0"/>
              </a:rPr>
              <a:t>for (j = 0; j &lt; M; </a:t>
            </a:r>
            <a:r>
              <a:rPr lang="en-US" sz="1100" dirty="0" err="1">
                <a:latin typeface="Consolas" panose="020B0609020204030204" pitchFamily="49" charset="0"/>
              </a:rPr>
              <a:t>j++</a:t>
            </a:r>
            <a:r>
              <a:rPr lang="en-US" sz="1100" dirty="0">
                <a:latin typeface="Consolas" panose="020B0609020204030204" pitchFamily="49" charset="0"/>
              </a:rPr>
              <a:t>)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    string2_temp = string2[j];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    </a:t>
            </a:r>
            <a:r>
              <a:rPr lang="en-US" sz="1100" dirty="0" err="1">
                <a:latin typeface="Consolas" panose="020B0609020204030204" pitchFamily="49" charset="0"/>
              </a:rPr>
              <a:t>row_offset</a:t>
            </a:r>
            <a:r>
              <a:rPr lang="en-US" sz="1100" dirty="0">
                <a:latin typeface="Consolas" panose="020B0609020204030204" pitchFamily="49" charset="0"/>
              </a:rPr>
              <a:t> = j * N;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    for (</a:t>
            </a:r>
            <a:r>
              <a:rPr lang="en-US" sz="1100" dirty="0" err="1">
                <a:latin typeface="Consolas" panose="020B0609020204030204" pitchFamily="49" charset="0"/>
              </a:rPr>
              <a:t>i</a:t>
            </a:r>
            <a:r>
              <a:rPr lang="en-US" sz="1100" dirty="0">
                <a:latin typeface="Consolas" panose="020B0609020204030204" pitchFamily="49" charset="0"/>
              </a:rPr>
              <a:t> = 0; </a:t>
            </a:r>
            <a:r>
              <a:rPr lang="en-US" sz="1100" dirty="0" err="1">
                <a:latin typeface="Consolas" panose="020B0609020204030204" pitchFamily="49" charset="0"/>
              </a:rPr>
              <a:t>i</a:t>
            </a:r>
            <a:r>
              <a:rPr lang="en-US" sz="1100" dirty="0">
                <a:latin typeface="Consolas" panose="020B0609020204030204" pitchFamily="49" charset="0"/>
              </a:rPr>
              <a:t> &lt; N; </a:t>
            </a:r>
            <a:r>
              <a:rPr lang="en-US" sz="1100" dirty="0" err="1">
                <a:latin typeface="Consolas" panose="020B0609020204030204" pitchFamily="49" charset="0"/>
              </a:rPr>
              <a:t>i</a:t>
            </a:r>
            <a:r>
              <a:rPr lang="en-US" sz="1100" dirty="0">
                <a:latin typeface="Consolas" panose="020B0609020204030204" pitchFamily="49" charset="0"/>
              </a:rPr>
              <a:t>++)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        index = </a:t>
            </a:r>
            <a:r>
              <a:rPr lang="en-US" sz="1100" dirty="0" err="1">
                <a:latin typeface="Consolas" panose="020B0609020204030204" pitchFamily="49" charset="0"/>
              </a:rPr>
              <a:t>row_offset</a:t>
            </a:r>
            <a:r>
              <a:rPr lang="en-US" sz="1100" dirty="0">
                <a:latin typeface="Consolas" panose="020B0609020204030204" pitchFamily="49" charset="0"/>
              </a:rPr>
              <a:t> + </a:t>
            </a:r>
            <a:r>
              <a:rPr lang="en-US" sz="1100" dirty="0" err="1">
                <a:latin typeface="Consolas" panose="020B0609020204030204" pitchFamily="49" charset="0"/>
              </a:rPr>
              <a:t>i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        ...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        </a:t>
            </a:r>
            <a:r>
              <a:rPr lang="en-US" sz="1100" dirty="0" err="1">
                <a:latin typeface="Consolas" panose="020B0609020204030204" pitchFamily="49" charset="0"/>
              </a:rPr>
              <a:t>match_score</a:t>
            </a:r>
            <a:r>
              <a:rPr lang="en-US" sz="1100" dirty="0">
                <a:latin typeface="Consolas" panose="020B0609020204030204" pitchFamily="49" charset="0"/>
              </a:rPr>
              <a:t> = (string1[</a:t>
            </a:r>
            <a:r>
              <a:rPr lang="en-US" sz="1100" dirty="0" err="1">
                <a:latin typeface="Consolas" panose="020B0609020204030204" pitchFamily="49" charset="0"/>
              </a:rPr>
              <a:t>i</a:t>
            </a:r>
            <a:r>
              <a:rPr lang="en-US" sz="1100" dirty="0">
                <a:latin typeface="Consolas" panose="020B0609020204030204" pitchFamily="49" charset="0"/>
              </a:rPr>
              <a:t>] == string2_temp) ? MATCH : MISS_MATCH;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    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7E7EF75C-5792-1BED-F47D-A5222AA30075}"/>
              </a:ext>
            </a:extLst>
          </p:cNvPr>
          <p:cNvSpPr txBox="1"/>
          <p:nvPr/>
        </p:nvSpPr>
        <p:spPr>
          <a:xfrm>
            <a:off x="2665412" y="1860302"/>
            <a:ext cx="1676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</a:rPr>
              <a:t>Outside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DFD312AB-C2E1-53DE-E824-700F10860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3353" y="3409925"/>
            <a:ext cx="6019800" cy="2498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7924755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DF2D287E-CFC9-46C7-A8C3-CC6D05434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(Arm CPU)</a:t>
            </a:r>
          </a:p>
        </p:txBody>
      </p:sp>
    </p:spTree>
    <p:extLst>
      <p:ext uri="{BB962C8B-B14F-4D97-AF65-F5344CB8AC3E}">
        <p14:creationId xmlns:p14="http://schemas.microsoft.com/office/powerpoint/2010/main" xmlns="" val="37810017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BC7E3BE-5CCB-8B7E-8F0A-4E55CD685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1 - Γράφημα"/>
          <p:cNvGraphicFramePr/>
          <p:nvPr/>
        </p:nvGraphicFramePr>
        <p:xfrm>
          <a:off x="5308594" y="500042"/>
          <a:ext cx="6429420" cy="30003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2 - Γράφημα"/>
          <p:cNvGraphicFramePr/>
          <p:nvPr/>
        </p:nvGraphicFramePr>
        <p:xfrm>
          <a:off x="5380032" y="3286124"/>
          <a:ext cx="5643602" cy="30003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xmlns="" id="{24A92B5E-A261-0485-A318-CC5252B4257D}"/>
              </a:ext>
            </a:extLst>
          </p:cNvPr>
          <p:cNvSpPr txBox="1">
            <a:spLocks/>
          </p:cNvSpPr>
          <p:nvPr/>
        </p:nvSpPr>
        <p:spPr>
          <a:xfrm>
            <a:off x="736562" y="1500174"/>
            <a:ext cx="4500594" cy="3071834"/>
          </a:xfrm>
          <a:prstGeom prst="rect">
            <a:avLst/>
          </a:prstGeom>
        </p:spPr>
        <p:txBody>
          <a:bodyPr/>
          <a:lstStyle>
            <a:lvl1pPr marL="274320" indent="-27432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258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544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402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The Arm Cortex-A9 is slower</a:t>
            </a:r>
          </a:p>
          <a:p>
            <a:pPr lvl="1"/>
            <a:r>
              <a:rPr lang="en-GB" dirty="0" smtClean="0"/>
              <a:t>lower clock frequency</a:t>
            </a:r>
            <a:endParaRPr lang="el-GR" dirty="0" smtClean="0"/>
          </a:p>
          <a:p>
            <a:pPr lvl="1"/>
            <a:r>
              <a:rPr lang="en-GB" dirty="0" smtClean="0"/>
              <a:t>smaller cache hierarchy</a:t>
            </a:r>
            <a:endParaRPr lang="el-GR" dirty="0" smtClean="0"/>
          </a:p>
          <a:p>
            <a:pPr lvl="1"/>
            <a:r>
              <a:rPr lang="en-GB" dirty="0" smtClean="0"/>
              <a:t>lack of out-of-order execution</a:t>
            </a:r>
          </a:p>
          <a:p>
            <a:r>
              <a:rPr lang="en-GB" dirty="0" smtClean="0"/>
              <a:t>Hitting the Memory Wall</a:t>
            </a:r>
            <a:endParaRPr lang="el-GR" dirty="0" smtClean="0"/>
          </a:p>
          <a:p>
            <a:pPr lvl="1"/>
            <a:r>
              <a:rPr lang="en-GB" dirty="0" smtClean="0"/>
              <a:t>Both CPUs are memory-bound, narrowing the gap</a:t>
            </a:r>
          </a:p>
        </p:txBody>
      </p:sp>
    </p:spTree>
    <p:extLst>
      <p:ext uri="{BB962C8B-B14F-4D97-AF65-F5344CB8AC3E}">
        <p14:creationId xmlns:p14="http://schemas.microsoft.com/office/powerpoint/2010/main" xmlns="" val="42185171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DF2D287E-CFC9-46C7-A8C3-CC6D05434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Hardware (FPGA)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7810017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FBBFC598-81AC-4941-973C-6034B821A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9143538" cy="609600"/>
          </a:xfrm>
        </p:spPr>
        <p:txBody>
          <a:bodyPr/>
          <a:lstStyle/>
          <a:p>
            <a:pPr algn="ctr"/>
            <a:r>
              <a:rPr lang="en-US" dirty="0"/>
              <a:t>Step 1: Serial </a:t>
            </a:r>
            <a:r>
              <a:rPr lang="en-US" dirty="0" smtClean="0"/>
              <a:t>logic</a:t>
            </a:r>
            <a:endParaRPr lang="en-US" dirty="0"/>
          </a:p>
        </p:txBody>
      </p:sp>
      <p:sp>
        <p:nvSpPr>
          <p:cNvPr id="2" name="Content Placeholder 13">
            <a:extLst>
              <a:ext uri="{FF2B5EF4-FFF2-40B4-BE49-F238E27FC236}">
                <a16:creationId xmlns:a16="http://schemas.microsoft.com/office/drawing/2014/main" xmlns="" id="{24A92B5E-A261-0485-A318-CC5252B4257D}"/>
              </a:ext>
            </a:extLst>
          </p:cNvPr>
          <p:cNvSpPr txBox="1">
            <a:spLocks/>
          </p:cNvSpPr>
          <p:nvPr/>
        </p:nvSpPr>
        <p:spPr>
          <a:xfrm>
            <a:off x="950876" y="1285860"/>
            <a:ext cx="5214974" cy="4714908"/>
          </a:xfrm>
          <a:prstGeom prst="rect">
            <a:avLst/>
          </a:prstGeom>
        </p:spPr>
        <p:txBody>
          <a:bodyPr/>
          <a:lstStyle>
            <a:lvl1pPr marL="274320" indent="-27432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258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544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402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AXI Interface Mapping</a:t>
            </a:r>
          </a:p>
          <a:p>
            <a:r>
              <a:rPr lang="en-US" dirty="0" smtClean="0"/>
              <a:t>Local Buffering</a:t>
            </a:r>
          </a:p>
          <a:p>
            <a:pPr lvl="1"/>
            <a:r>
              <a:rPr lang="en-US" dirty="0" smtClean="0"/>
              <a:t>local_string1</a:t>
            </a:r>
          </a:p>
          <a:p>
            <a:pPr lvl="1"/>
            <a:r>
              <a:rPr lang="en-US" dirty="0" err="1" smtClean="0"/>
              <a:t>local_west</a:t>
            </a:r>
            <a:endParaRPr lang="en-US" dirty="0" smtClean="0"/>
          </a:p>
          <a:p>
            <a:pPr lvl="1"/>
            <a:r>
              <a:rPr lang="en-US" dirty="0" err="1" smtClean="0"/>
              <a:t>local_northwest</a:t>
            </a:r>
            <a:endParaRPr lang="en-US" dirty="0" smtClean="0"/>
          </a:p>
          <a:p>
            <a:pPr lvl="1"/>
            <a:r>
              <a:rPr lang="en-US" dirty="0" err="1" smtClean="0"/>
              <a:t>prev_row</a:t>
            </a:r>
            <a:endParaRPr lang="en-US" dirty="0" smtClean="0"/>
          </a:p>
          <a:p>
            <a:pPr lvl="1"/>
            <a:r>
              <a:rPr lang="en-US" dirty="0" err="1" smtClean="0"/>
              <a:t>local_dir_row</a:t>
            </a:r>
            <a:endParaRPr lang="en-US" dirty="0"/>
          </a:p>
          <a:p>
            <a:r>
              <a:rPr lang="en-US" dirty="0" smtClean="0"/>
              <a:t>Burst </a:t>
            </a:r>
            <a:r>
              <a:rPr lang="en-US" dirty="0"/>
              <a:t>Writes: Writing the results back to external memory row-by-row . </a:t>
            </a:r>
          </a:p>
          <a:p>
            <a:r>
              <a:rPr lang="en-US" dirty="0" smtClean="0"/>
              <a:t>Pipelining </a:t>
            </a:r>
            <a:r>
              <a:rPr lang="en-US" dirty="0"/>
              <a:t>query and internal loop.</a:t>
            </a:r>
          </a:p>
        </p:txBody>
      </p:sp>
      <p:graphicFrame>
        <p:nvGraphicFramePr>
          <p:cNvPr id="4" name="Table 7">
            <a:extLst>
              <a:ext uri="{FF2B5EF4-FFF2-40B4-BE49-F238E27FC236}">
                <a16:creationId xmlns:a16="http://schemas.microsoft.com/office/drawing/2014/main" xmlns="" id="{A53A0A00-806F-9EC8-89ED-57DF139265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580929047"/>
              </p:ext>
            </p:extLst>
          </p:nvPr>
        </p:nvGraphicFramePr>
        <p:xfrm>
          <a:off x="6523040" y="1428736"/>
          <a:ext cx="4893032" cy="35712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446516">
                  <a:extLst>
                    <a:ext uri="{9D8B030D-6E8A-4147-A177-3AD203B41FA5}">
                      <a16:colId xmlns:a16="http://schemas.microsoft.com/office/drawing/2014/main" xmlns="" val="1652676592"/>
                    </a:ext>
                  </a:extLst>
                </a:gridCol>
                <a:gridCol w="2446516">
                  <a:extLst>
                    <a:ext uri="{9D8B030D-6E8A-4147-A177-3AD203B41FA5}">
                      <a16:colId xmlns:a16="http://schemas.microsoft.com/office/drawing/2014/main" xmlns="" val="34033733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920833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Total Time (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ms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en-US" dirty="0"/>
                        <a:t/>
                      </a:r>
                      <a:br>
                        <a:rPr lang="en-US" dirty="0"/>
                      </a:b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254.111</a:t>
                      </a:r>
                      <a:r>
                        <a:rPr lang="en-US" dirty="0"/>
                        <a:t/>
                      </a:r>
                      <a:br>
                        <a:rPr lang="en-US" dirty="0"/>
                      </a:b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99200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 Total Time (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ms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en-US" dirty="0"/>
                        <a:t/>
                      </a:r>
                      <a:br>
                        <a:rPr lang="en-US" dirty="0"/>
                      </a:b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178.206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64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4,089 (7.69%)</a:t>
                      </a:r>
                      <a:r>
                        <a:rPr lang="en-US" dirty="0"/>
                        <a:t/>
                      </a:r>
                      <a:br>
                        <a:rPr lang="en-US" dirty="0"/>
                      </a:b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089918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Registers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6,182 (N/A)</a:t>
                      </a:r>
                      <a:r>
                        <a:rPr lang="en-US" dirty="0"/>
                        <a:t/>
                      </a:r>
                      <a:br>
                        <a:rPr lang="en-US" dirty="0"/>
                      </a:b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86488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BRAM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 (4.29%)</a:t>
                      </a:r>
                      <a:r>
                        <a:rPr lang="en-US" dirty="0"/>
                        <a:t/>
                      </a:r>
                      <a:br>
                        <a:rPr lang="en-US" dirty="0"/>
                      </a:b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411582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518017731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FBBFC598-81AC-4941-973C-6034B821A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9143538" cy="609600"/>
          </a:xfrm>
        </p:spPr>
        <p:txBody>
          <a:bodyPr/>
          <a:lstStyle/>
          <a:p>
            <a:pPr algn="ctr"/>
            <a:r>
              <a:rPr lang="en-US" dirty="0"/>
              <a:t>Step </a:t>
            </a:r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2" name="Content Placeholder 13">
            <a:extLst>
              <a:ext uri="{FF2B5EF4-FFF2-40B4-BE49-F238E27FC236}">
                <a16:creationId xmlns:a16="http://schemas.microsoft.com/office/drawing/2014/main" xmlns="" id="{24A92B5E-A261-0485-A318-CC5252B4257D}"/>
              </a:ext>
            </a:extLst>
          </p:cNvPr>
          <p:cNvSpPr txBox="1">
            <a:spLocks/>
          </p:cNvSpPr>
          <p:nvPr/>
        </p:nvSpPr>
        <p:spPr>
          <a:xfrm>
            <a:off x="307934" y="1214422"/>
            <a:ext cx="6072230" cy="4214842"/>
          </a:xfrm>
          <a:prstGeom prst="rect">
            <a:avLst/>
          </a:prstGeom>
        </p:spPr>
        <p:txBody>
          <a:bodyPr/>
          <a:lstStyle>
            <a:lvl1pPr marL="274320" indent="-27432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258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544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402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Anti-Diagonal Execution (Computing up to 32 cells concurrently.)</a:t>
            </a:r>
          </a:p>
          <a:p>
            <a:r>
              <a:rPr lang="en-GB" dirty="0" smtClean="0"/>
              <a:t>Local Database Fetching (local_string2):</a:t>
            </a:r>
          </a:p>
          <a:p>
            <a:pPr lvl="1"/>
            <a:r>
              <a:rPr lang="en-GB" dirty="0" smtClean="0"/>
              <a:t>Pre-loading 32 database characters before the internal loop begins.</a:t>
            </a:r>
          </a:p>
          <a:p>
            <a:r>
              <a:rPr lang="en-GB" dirty="0" smtClean="0"/>
              <a:t>Complete Array Partitioning:</a:t>
            </a:r>
          </a:p>
          <a:p>
            <a:pPr lvl="1"/>
            <a:r>
              <a:rPr lang="en-GB" dirty="0" smtClean="0"/>
              <a:t>3 diagonal buffers.</a:t>
            </a:r>
          </a:p>
          <a:p>
            <a:pPr lvl="1"/>
            <a:r>
              <a:rPr lang="en-GB" dirty="0" smtClean="0"/>
              <a:t>local strings and local direction buffer.</a:t>
            </a:r>
          </a:p>
          <a:p>
            <a:r>
              <a:rPr lang="en-GB" dirty="0" smtClean="0"/>
              <a:t>If-else structure for Priority Encoder:</a:t>
            </a:r>
          </a:p>
          <a:p>
            <a:pPr marL="274320" lvl="1" indent="-274320">
              <a:spcBef>
                <a:spcPts val="1800"/>
              </a:spcBef>
              <a:buFont typeface="Arial" pitchFamily="34" charset="0"/>
              <a:buChar char="▪"/>
            </a:pPr>
            <a:r>
              <a:rPr lang="en-GB" sz="2400" dirty="0" smtClean="0"/>
              <a:t>Moved the global maximum tracking on the outside loop.</a:t>
            </a:r>
          </a:p>
          <a:p>
            <a:endParaRPr lang="en-GB" dirty="0" smtClean="0"/>
          </a:p>
        </p:txBody>
      </p:sp>
      <p:graphicFrame>
        <p:nvGraphicFramePr>
          <p:cNvPr id="4" name="Table 7">
            <a:extLst>
              <a:ext uri="{FF2B5EF4-FFF2-40B4-BE49-F238E27FC236}">
                <a16:creationId xmlns:a16="http://schemas.microsoft.com/office/drawing/2014/main" xmlns="" id="{52187DC4-AC7E-ECD4-53B5-635AEFBEA0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418200591"/>
              </p:ext>
            </p:extLst>
          </p:nvPr>
        </p:nvGraphicFramePr>
        <p:xfrm>
          <a:off x="6523040" y="1428736"/>
          <a:ext cx="4893032" cy="35712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446516">
                  <a:extLst>
                    <a:ext uri="{9D8B030D-6E8A-4147-A177-3AD203B41FA5}">
                      <a16:colId xmlns:a16="http://schemas.microsoft.com/office/drawing/2014/main" xmlns="" val="1652676592"/>
                    </a:ext>
                  </a:extLst>
                </a:gridCol>
                <a:gridCol w="2446516">
                  <a:extLst>
                    <a:ext uri="{9D8B030D-6E8A-4147-A177-3AD203B41FA5}">
                      <a16:colId xmlns:a16="http://schemas.microsoft.com/office/drawing/2014/main" xmlns="" val="34033733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920833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Total Time (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ms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en-US" dirty="0"/>
                        <a:t/>
                      </a:r>
                      <a:br>
                        <a:rPr lang="en-US" dirty="0"/>
                      </a:b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99.573</a:t>
                      </a:r>
                      <a:br>
                        <a:rPr lang="en-US" dirty="0"/>
                      </a:b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99200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 Total Time (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ms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en-US" dirty="0"/>
                        <a:t/>
                      </a:r>
                      <a:br>
                        <a:rPr lang="en-US" dirty="0"/>
                      </a:b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69.359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64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14,572 (27.39%) 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089918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Registers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15,537 (N/A)</a:t>
                      </a:r>
                      <a:br>
                        <a:rPr lang="en-US" dirty="0"/>
                      </a:b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86488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BRAM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 (15.0%) 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411582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518017731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FBBFC598-81AC-4941-973C-6034B821A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9143538" cy="609600"/>
          </a:xfrm>
        </p:spPr>
        <p:txBody>
          <a:bodyPr/>
          <a:lstStyle/>
          <a:p>
            <a:pPr algn="ctr"/>
            <a:r>
              <a:rPr lang="en-US" dirty="0"/>
              <a:t>Step </a:t>
            </a:r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2" name="Content Placeholder 13">
            <a:extLst>
              <a:ext uri="{FF2B5EF4-FFF2-40B4-BE49-F238E27FC236}">
                <a16:creationId xmlns:a16="http://schemas.microsoft.com/office/drawing/2014/main" xmlns="" id="{24A92B5E-A261-0485-A318-CC5252B4257D}"/>
              </a:ext>
            </a:extLst>
          </p:cNvPr>
          <p:cNvSpPr txBox="1">
            <a:spLocks/>
          </p:cNvSpPr>
          <p:nvPr/>
        </p:nvSpPr>
        <p:spPr>
          <a:xfrm>
            <a:off x="879438" y="1500174"/>
            <a:ext cx="4991096" cy="4419616"/>
          </a:xfrm>
          <a:prstGeom prst="rect">
            <a:avLst/>
          </a:prstGeom>
        </p:spPr>
        <p:txBody>
          <a:bodyPr/>
          <a:lstStyle>
            <a:lvl1pPr marL="274320" indent="-27432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258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544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402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Arbitrary Types</a:t>
            </a:r>
          </a:p>
          <a:p>
            <a:pPr lvl="1"/>
            <a:r>
              <a:rPr lang="en-GB" dirty="0" smtClean="0"/>
              <a:t>3bit Query and Database</a:t>
            </a:r>
          </a:p>
          <a:p>
            <a:pPr lvl="1"/>
            <a:r>
              <a:rPr lang="en-GB" dirty="0" smtClean="0"/>
              <a:t>512bit wide word of 32 packed outputs</a:t>
            </a:r>
          </a:p>
          <a:p>
            <a:r>
              <a:rPr lang="en-GB" dirty="0" smtClean="0"/>
              <a:t>Shift-Register Window (local_string2_window)</a:t>
            </a:r>
          </a:p>
          <a:p>
            <a:r>
              <a:rPr lang="en-GB" dirty="0" smtClean="0"/>
              <a:t>5-Level Parallel Reduction Tree:</a:t>
            </a:r>
          </a:p>
          <a:p>
            <a:pPr lvl="1"/>
            <a:r>
              <a:rPr lang="en-GB" dirty="0" smtClean="0"/>
              <a:t>Finds the maximum in just 5 combinational steps (log2(32) = 5) instead of 32.</a:t>
            </a:r>
          </a:p>
          <a:p>
            <a:endParaRPr lang="en-GB" dirty="0" smtClean="0"/>
          </a:p>
        </p:txBody>
      </p:sp>
      <p:graphicFrame>
        <p:nvGraphicFramePr>
          <p:cNvPr id="5" name="Table 7">
            <a:extLst>
              <a:ext uri="{FF2B5EF4-FFF2-40B4-BE49-F238E27FC236}">
                <a16:creationId xmlns:a16="http://schemas.microsoft.com/office/drawing/2014/main" xmlns="" id="{28191549-417D-4883-0448-8C6D7A02FA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90379684"/>
              </p:ext>
            </p:extLst>
          </p:nvPr>
        </p:nvGraphicFramePr>
        <p:xfrm>
          <a:off x="6380164" y="1643050"/>
          <a:ext cx="4893032" cy="35712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446516">
                  <a:extLst>
                    <a:ext uri="{9D8B030D-6E8A-4147-A177-3AD203B41FA5}">
                      <a16:colId xmlns:a16="http://schemas.microsoft.com/office/drawing/2014/main" xmlns="" val="1652676592"/>
                    </a:ext>
                  </a:extLst>
                </a:gridCol>
                <a:gridCol w="2446516">
                  <a:extLst>
                    <a:ext uri="{9D8B030D-6E8A-4147-A177-3AD203B41FA5}">
                      <a16:colId xmlns:a16="http://schemas.microsoft.com/office/drawing/2014/main" xmlns="" val="34033733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920833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Total Time (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ms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en-US" dirty="0"/>
                        <a:t/>
                      </a:r>
                      <a:br>
                        <a:rPr lang="en-US" dirty="0"/>
                      </a:b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13.304</a:t>
                      </a:r>
                      <a:r>
                        <a:rPr lang="en-US" dirty="0"/>
                        <a:t/>
                      </a:r>
                      <a:br>
                        <a:rPr lang="en-US" dirty="0"/>
                      </a:b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99200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 Total Time (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ms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en-US" dirty="0"/>
                        <a:t/>
                      </a:r>
                      <a:br>
                        <a:rPr lang="en-US" dirty="0"/>
                      </a:b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8.614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64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11,285 (21.21%)</a:t>
                      </a:r>
                      <a:r>
                        <a:rPr lang="en-US" dirty="0"/>
                        <a:t/>
                      </a:r>
                      <a:br>
                        <a:rPr lang="en-US" dirty="0"/>
                      </a:b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089918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Registers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9,556 (N/A)</a:t>
                      </a:r>
                      <a:r>
                        <a:rPr lang="en-US" dirty="0"/>
                        <a:t/>
                      </a:r>
                      <a:br>
                        <a:rPr lang="en-US" dirty="0"/>
                      </a:b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86488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BRAM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 (12.14%)</a:t>
                      </a:r>
                      <a:r>
                        <a:rPr lang="en-US" dirty="0"/>
                        <a:t/>
                      </a:r>
                      <a:br>
                        <a:rPr lang="en-US" dirty="0"/>
                      </a:b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411582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518017731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FBBFC598-81AC-4941-973C-6034B821A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9143538" cy="609600"/>
          </a:xfrm>
        </p:spPr>
        <p:txBody>
          <a:bodyPr/>
          <a:lstStyle/>
          <a:p>
            <a:pPr algn="ctr"/>
            <a:r>
              <a:rPr lang="en-US" dirty="0"/>
              <a:t>Step </a:t>
            </a:r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2" name="Content Placeholder 13">
            <a:extLst>
              <a:ext uri="{FF2B5EF4-FFF2-40B4-BE49-F238E27FC236}">
                <a16:creationId xmlns:a16="http://schemas.microsoft.com/office/drawing/2014/main" xmlns="" id="{24A92B5E-A261-0485-A318-CC5252B4257D}"/>
              </a:ext>
            </a:extLst>
          </p:cNvPr>
          <p:cNvSpPr txBox="1">
            <a:spLocks/>
          </p:cNvSpPr>
          <p:nvPr/>
        </p:nvSpPr>
        <p:spPr>
          <a:xfrm>
            <a:off x="808000" y="1643050"/>
            <a:ext cx="5072098" cy="2857520"/>
          </a:xfrm>
          <a:prstGeom prst="rect">
            <a:avLst/>
          </a:prstGeom>
        </p:spPr>
        <p:txBody>
          <a:bodyPr/>
          <a:lstStyle>
            <a:lvl1pPr marL="274320" indent="-27432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258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544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402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Elimination of the Similarity Matrix.</a:t>
            </a:r>
          </a:p>
          <a:p>
            <a:r>
              <a:rPr lang="en-GB" dirty="0" smtClean="0"/>
              <a:t>Direction Matrix Compression:</a:t>
            </a:r>
          </a:p>
          <a:p>
            <a:pPr lvl="1"/>
            <a:r>
              <a:rPr lang="en-GB" dirty="0" smtClean="0"/>
              <a:t>2bit directions instead of 16bits.</a:t>
            </a:r>
          </a:p>
          <a:p>
            <a:endParaRPr lang="en-GB" dirty="0" smtClean="0"/>
          </a:p>
        </p:txBody>
      </p:sp>
      <p:graphicFrame>
        <p:nvGraphicFramePr>
          <p:cNvPr id="4" name="Table 7">
            <a:extLst>
              <a:ext uri="{FF2B5EF4-FFF2-40B4-BE49-F238E27FC236}">
                <a16:creationId xmlns:a16="http://schemas.microsoft.com/office/drawing/2014/main" xmlns="" id="{9B0AD99F-48B6-5F76-A4C4-1FE3CDE024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496053284"/>
              </p:ext>
            </p:extLst>
          </p:nvPr>
        </p:nvGraphicFramePr>
        <p:xfrm>
          <a:off x="6380164" y="1643050"/>
          <a:ext cx="4893032" cy="35712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446516">
                  <a:extLst>
                    <a:ext uri="{9D8B030D-6E8A-4147-A177-3AD203B41FA5}">
                      <a16:colId xmlns:a16="http://schemas.microsoft.com/office/drawing/2014/main" xmlns="" val="1652676592"/>
                    </a:ext>
                  </a:extLst>
                </a:gridCol>
                <a:gridCol w="2446516">
                  <a:extLst>
                    <a:ext uri="{9D8B030D-6E8A-4147-A177-3AD203B41FA5}">
                      <a16:colId xmlns:a16="http://schemas.microsoft.com/office/drawing/2014/main" xmlns="" val="34033733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920833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Total Time (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ms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en-US" dirty="0"/>
                        <a:t/>
                      </a:r>
                      <a:br>
                        <a:rPr lang="en-US" dirty="0"/>
                      </a:b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7.722 </a:t>
                      </a:r>
                      <a:br>
                        <a:rPr lang="en-US" dirty="0"/>
                      </a:b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99200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 Total Time (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ms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en-US" dirty="0"/>
                        <a:t/>
                      </a:r>
                      <a:br>
                        <a:rPr lang="en-US" dirty="0"/>
                      </a:b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4.816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64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9,076 (17.06%) 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089918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Registers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5,329 (N/A) 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86488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BRAM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 (1.43%) 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411582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518017731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FBBFC598-81AC-4941-973C-6034B821A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9143538" cy="609600"/>
          </a:xfrm>
        </p:spPr>
        <p:txBody>
          <a:bodyPr/>
          <a:lstStyle/>
          <a:p>
            <a:pPr algn="ctr"/>
            <a:r>
              <a:rPr lang="en-US" dirty="0"/>
              <a:t>Step </a:t>
            </a:r>
            <a:r>
              <a:rPr lang="el-GR" dirty="0" smtClean="0"/>
              <a:t>5</a:t>
            </a:r>
            <a:endParaRPr lang="en-US" dirty="0"/>
          </a:p>
        </p:txBody>
      </p:sp>
      <p:sp>
        <p:nvSpPr>
          <p:cNvPr id="2" name="Content Placeholder 13">
            <a:extLst>
              <a:ext uri="{FF2B5EF4-FFF2-40B4-BE49-F238E27FC236}">
                <a16:creationId xmlns:a16="http://schemas.microsoft.com/office/drawing/2014/main" xmlns="" id="{24A92B5E-A261-0485-A318-CC5252B4257D}"/>
              </a:ext>
            </a:extLst>
          </p:cNvPr>
          <p:cNvSpPr txBox="1">
            <a:spLocks/>
          </p:cNvSpPr>
          <p:nvPr/>
        </p:nvSpPr>
        <p:spPr>
          <a:xfrm>
            <a:off x="950876" y="1214422"/>
            <a:ext cx="5214974" cy="2071702"/>
          </a:xfrm>
          <a:prstGeom prst="rect">
            <a:avLst/>
          </a:prstGeom>
        </p:spPr>
        <p:txBody>
          <a:bodyPr/>
          <a:lstStyle>
            <a:lvl1pPr marL="274320" indent="-27432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258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544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402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Ultra-Wide Input Fetches (</a:t>
            </a:r>
            <a:r>
              <a:rPr lang="en-GB" dirty="0" err="1" smtClean="0"/>
              <a:t>ap_uint</a:t>
            </a:r>
            <a:r>
              <a:rPr lang="en-GB" dirty="0" smtClean="0"/>
              <a:t>&lt;512&gt;):</a:t>
            </a:r>
          </a:p>
          <a:p>
            <a:pPr lvl="1"/>
            <a:r>
              <a:rPr lang="en-GB" dirty="0" smtClean="0"/>
              <a:t>Fetching the complete Query at </a:t>
            </a:r>
            <a:r>
              <a:rPr lang="en-GB" dirty="0" err="1" smtClean="0"/>
              <a:t>startup</a:t>
            </a:r>
            <a:r>
              <a:rPr lang="en-GB" dirty="0" smtClean="0"/>
              <a:t>.</a:t>
            </a:r>
          </a:p>
          <a:p>
            <a:pPr lvl="1"/>
            <a:r>
              <a:rPr lang="en-GB" dirty="0" smtClean="0"/>
              <a:t>Fetching a 512bit block from Database only when needed</a:t>
            </a:r>
          </a:p>
        </p:txBody>
      </p:sp>
      <p:pic>
        <p:nvPicPr>
          <p:cNvPr id="4" name="3 - Εικόνα" descr="string2.draw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934" y="3143248"/>
            <a:ext cx="5715040" cy="3044821"/>
          </a:xfrm>
          <a:prstGeom prst="rect">
            <a:avLst/>
          </a:prstGeom>
        </p:spPr>
      </p:pic>
      <p:graphicFrame>
        <p:nvGraphicFramePr>
          <p:cNvPr id="5" name="Table 7">
            <a:extLst>
              <a:ext uri="{FF2B5EF4-FFF2-40B4-BE49-F238E27FC236}">
                <a16:creationId xmlns:a16="http://schemas.microsoft.com/office/drawing/2014/main" xmlns="" id="{508CE7FD-9D37-788A-A5D4-E237E7B548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780251867"/>
              </p:ext>
            </p:extLst>
          </p:nvPr>
        </p:nvGraphicFramePr>
        <p:xfrm>
          <a:off x="6380164" y="1643050"/>
          <a:ext cx="4893032" cy="35712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446516">
                  <a:extLst>
                    <a:ext uri="{9D8B030D-6E8A-4147-A177-3AD203B41FA5}">
                      <a16:colId xmlns:a16="http://schemas.microsoft.com/office/drawing/2014/main" xmlns="" val="1652676592"/>
                    </a:ext>
                  </a:extLst>
                </a:gridCol>
                <a:gridCol w="2446516">
                  <a:extLst>
                    <a:ext uri="{9D8B030D-6E8A-4147-A177-3AD203B41FA5}">
                      <a16:colId xmlns:a16="http://schemas.microsoft.com/office/drawing/2014/main" xmlns="" val="34033733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920833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Total Time (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ms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en-US" dirty="0"/>
                        <a:t/>
                      </a:r>
                      <a:br>
                        <a:rPr lang="en-US" dirty="0"/>
                      </a:b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.991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99200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 Total Time (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ms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en-US" dirty="0"/>
                        <a:t/>
                      </a:r>
                      <a:br>
                        <a:rPr lang="en-US" dirty="0"/>
                      </a:b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0.729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64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10.293 (19.35%)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089918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Registers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9.313 (N/A)</a:t>
                      </a:r>
                      <a:r>
                        <a:rPr lang="en-US" dirty="0"/>
                        <a:t/>
                      </a:r>
                      <a:br>
                        <a:rPr lang="en-US" dirty="0"/>
                      </a:b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86488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BRAM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 (7.86%)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411582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518017731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8 - Γράφημα"/>
          <p:cNvGraphicFramePr/>
          <p:nvPr/>
        </p:nvGraphicFramePr>
        <p:xfrm>
          <a:off x="808000" y="1714488"/>
          <a:ext cx="4929222" cy="30718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7 - Γράφημα"/>
          <p:cNvGraphicFramePr/>
          <p:nvPr/>
        </p:nvGraphicFramePr>
        <p:xfrm>
          <a:off x="6165850" y="1714488"/>
          <a:ext cx="5000660" cy="30718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5 - Γράφημα"/>
          <p:cNvGraphicFramePr/>
          <p:nvPr/>
        </p:nvGraphicFramePr>
        <p:xfrm>
          <a:off x="593686" y="571480"/>
          <a:ext cx="4572032" cy="27860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6 - Γράφημα"/>
          <p:cNvGraphicFramePr/>
          <p:nvPr/>
        </p:nvGraphicFramePr>
        <p:xfrm>
          <a:off x="6523040" y="571480"/>
          <a:ext cx="4786346" cy="27860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9 - Γράφημα"/>
          <p:cNvGraphicFramePr/>
          <p:nvPr/>
        </p:nvGraphicFramePr>
        <p:xfrm>
          <a:off x="3665520" y="3429000"/>
          <a:ext cx="4429156" cy="25717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10 - Γράφημα"/>
          <p:cNvGraphicFramePr/>
          <p:nvPr/>
        </p:nvGraphicFramePr>
        <p:xfrm>
          <a:off x="2379636" y="1071546"/>
          <a:ext cx="7500974" cy="41588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triped Border 16x9">
  <a:themeElements>
    <a:clrScheme name="Custom 3">
      <a:dk1>
        <a:srgbClr val="424242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Glow Edge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98000"/>
              </a:schemeClr>
            </a:duotone>
          </a:blip>
          <a:tile tx="0" ty="0" sx="100000" sy="100000" flip="none" algn="ctr"/>
        </a:blipFill>
      </a:bgFillStyleLst>
    </a:fmtScheme>
  </a:themeElements>
  <a:objectDefaults>
    <a:spDef>
      <a:spPr>
        <a:solidFill>
          <a:schemeClr val="accent1">
            <a:lumMod val="50000"/>
          </a:schemeClr>
        </a:solidFill>
        <a:ln>
          <a:solidFill>
            <a:schemeClr val="accent1">
              <a:lumMod val="50000"/>
            </a:schemeClr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Striped black border presentation (widescreen).potx" id="{96522838-024F-4A04-A543-9EF396F770C0}" vid="{BD969DAD-256A-4182-ABA2-1577ED7D3144}"/>
    </a:ext>
  </a:extLst>
</a:theme>
</file>

<file path=ppt/theme/theme2.xml><?xml version="1.0" encoding="utf-8"?>
<a:theme xmlns:a="http://schemas.openxmlformats.org/drawingml/2006/main" name="Office Theme">
  <a:themeElements>
    <a:clrScheme name="StripedBorder_16x9">
      <a:dk1>
        <a:srgbClr val="404040"/>
      </a:dk1>
      <a:lt1>
        <a:sysClr val="window" lastClr="FFFFFF"/>
      </a:lt1>
      <a:dk2>
        <a:srgbClr val="000000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9D66D"/>
      </a:accent5>
      <a:accent6>
        <a:srgbClr val="838383"/>
      </a:accent6>
      <a:hlink>
        <a:srgbClr val="F59E00"/>
      </a:hlink>
      <a:folHlink>
        <a:srgbClr val="B2B2B2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Glow Edge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StripedBorder_16x9">
      <a:dk1>
        <a:srgbClr val="404040"/>
      </a:dk1>
      <a:lt1>
        <a:sysClr val="window" lastClr="FFFFFF"/>
      </a:lt1>
      <a:dk2>
        <a:srgbClr val="000000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9D66D"/>
      </a:accent5>
      <a:accent6>
        <a:srgbClr val="838383"/>
      </a:accent6>
      <a:hlink>
        <a:srgbClr val="F59E00"/>
      </a:hlink>
      <a:folHlink>
        <a:srgbClr val="B2B2B2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Glow Edge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1998</TotalTime>
  <Words>594</Words>
  <Application>Microsoft Office PowerPoint</Application>
  <PresentationFormat>Προσαρμογή</PresentationFormat>
  <Paragraphs>170</Paragraphs>
  <Slides>16</Slides>
  <Notes>0</Notes>
  <HiddenSlides>0</HiddenSlides>
  <MMClips>0</MMClips>
  <ScaleCrop>false</ScaleCrop>
  <HeadingPairs>
    <vt:vector size="4" baseType="variant">
      <vt:variant>
        <vt:lpstr>Θέμα</vt:lpstr>
      </vt:variant>
      <vt:variant>
        <vt:i4>1</vt:i4>
      </vt:variant>
      <vt:variant>
        <vt:lpstr>Τίτλοι διαφανειών</vt:lpstr>
      </vt:variant>
      <vt:variant>
        <vt:i4>16</vt:i4>
      </vt:variant>
    </vt:vector>
  </HeadingPairs>
  <TitlesOfParts>
    <vt:vector size="17" baseType="lpstr">
      <vt:lpstr>Striped Border 16x9</vt:lpstr>
      <vt:lpstr>EMBEDDED SYSTEMS LAB3    FPGAS AS ACCELERATORS</vt:lpstr>
      <vt:lpstr>Software (x86 CPU)</vt:lpstr>
      <vt:lpstr>LSAL Implementation on the x86 CPU</vt:lpstr>
      <vt:lpstr>Picking the best implementation (1)</vt:lpstr>
      <vt:lpstr>Picking the best implementation (2)</vt:lpstr>
      <vt:lpstr>Software (Arm CPU)</vt:lpstr>
      <vt:lpstr>Διαφάνεια 7</vt:lpstr>
      <vt:lpstr>Hardware (FPGA)</vt:lpstr>
      <vt:lpstr>Step 1: Serial logic</vt:lpstr>
      <vt:lpstr>Step 2</vt:lpstr>
      <vt:lpstr>Step 3</vt:lpstr>
      <vt:lpstr>Step 4</vt:lpstr>
      <vt:lpstr>Step 5</vt:lpstr>
      <vt:lpstr>Διαφάνεια 14</vt:lpstr>
      <vt:lpstr>Διαφάνεια 15</vt:lpstr>
      <vt:lpstr>Διαφάνεια 16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Embedded Systems Lab3  FPGAs as Accelerators</dc:title>
  <dc:creator>PAPADOPOULOS IOANNIS</dc:creator>
  <cp:lastModifiedBy>ΜΑΡΙΛΗ ΤΖΟΡΜΠΑΤΖΑΚΗ</cp:lastModifiedBy>
  <cp:revision>244</cp:revision>
  <dcterms:created xsi:type="dcterms:W3CDTF">2026-05-30T15:23:56Z</dcterms:created>
  <dcterms:modified xsi:type="dcterms:W3CDTF">2026-06-03T19:29:50Z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</Properties>
</file>